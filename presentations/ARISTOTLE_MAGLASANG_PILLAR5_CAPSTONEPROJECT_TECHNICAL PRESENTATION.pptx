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7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</c:v>
                </c:pt>
                <c:pt idx="1">
                  <c:v>0.66</c:v>
                </c:pt>
                <c:pt idx="2">
                  <c:v>0.77</c:v>
                </c:pt>
                <c:pt idx="3">
                  <c:v>0.76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A9-45DB-B770-6E7A3E28150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Logistic Reg.</c:v>
                </c:pt>
                <c:pt idx="1">
                  <c:v>Decision Tree</c:v>
                </c:pt>
                <c:pt idx="2">
                  <c:v>Random Forest</c:v>
                </c:pt>
                <c:pt idx="3">
                  <c:v>XGBoost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0.69</c:v>
                </c:pt>
                <c:pt idx="1">
                  <c:v>0.6</c:v>
                </c:pt>
                <c:pt idx="2">
                  <c:v>0.7</c:v>
                </c:pt>
                <c:pt idx="3">
                  <c:v>0.69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A9-45DB-B770-6E7A3E2815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0.29458509526586957"/>
          <c:y val="4.4936688021524222E-2"/>
          <c:w val="0.40311376008554484"/>
          <c:h val="8.290082691276493E-2"/>
        </c:manualLayout>
      </c:layout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Dropout</c:v>
                </c:pt>
                <c:pt idx="1">
                  <c:v>Enrolled</c:v>
                </c:pt>
                <c:pt idx="2">
                  <c:v>Graduate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0.78</c:v>
                </c:pt>
                <c:pt idx="1">
                  <c:v>0.44</c:v>
                </c:pt>
                <c:pt idx="2">
                  <c:v>0.86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D4-45A3-8EA2-6E82FD117F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Tree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Dropout</c:v>
                </c:pt>
                <c:pt idx="1">
                  <c:v>Enrolled</c:v>
                </c:pt>
                <c:pt idx="2">
                  <c:v>Graduate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0.68</c:v>
                </c:pt>
                <c:pt idx="1">
                  <c:v>0.33</c:v>
                </c:pt>
                <c:pt idx="2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5D4-45A3-8EA2-6E82FD117F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Random Forest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Dropout</c:v>
                </c:pt>
                <c:pt idx="1">
                  <c:v>Enrolled</c:v>
                </c:pt>
                <c:pt idx="2">
                  <c:v>Graduate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0.78</c:v>
                </c:pt>
                <c:pt idx="1">
                  <c:v>0.47</c:v>
                </c:pt>
                <c:pt idx="2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5D4-45A3-8EA2-6E82FD117F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XGBoost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Dropout</c:v>
                </c:pt>
                <c:pt idx="1">
                  <c:v>Enrolled</c:v>
                </c:pt>
                <c:pt idx="2">
                  <c:v>Graduate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0.77</c:v>
                </c:pt>
                <c:pt idx="1">
                  <c:v>0.45</c:v>
                </c:pt>
                <c:pt idx="2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5D4-45A3-8EA2-6E82FD117F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2.2440792638739184E-2"/>
          <c:y val="4.6595738032745835E-4"/>
          <c:w val="0.89707768172335101"/>
          <c:h val="6.2034042619672526E-2"/>
        </c:manualLayout>
      </c:layout>
      <c:overlay val="1"/>
      <c:txPr>
        <a:bodyPr/>
        <a:lstStyle/>
        <a:p>
          <a:pPr>
            <a:defRPr sz="16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58368" y="18288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22A42"/>
                </a:solidFill>
                <a:latin typeface="Aptos"/>
              </a:defRPr>
            </a:pPr>
            <a:r>
              <a:t>Predicting Student Dropout and Academic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54203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707E8C"/>
                </a:solidFill>
                <a:latin typeface="Aptos"/>
              </a:defRPr>
            </a:pPr>
            <a:r>
              <a:t>Design, implementation, evaluation, and responsible use of a multiclass ML decision-support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794760"/>
            <a:ext cx="13258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39319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42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7" y="3922776"/>
            <a:ext cx="21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71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8568" y="3794760"/>
            <a:ext cx="13258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58568" y="39319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42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5" y="3922776"/>
            <a:ext cx="21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71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1335" y="3794760"/>
            <a:ext cx="13258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31335" y="39319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42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3" y="3922776"/>
            <a:ext cx="21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71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4104" y="3794760"/>
            <a:ext cx="13258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04104" y="39319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42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3922776"/>
            <a:ext cx="21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71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76872" y="3794760"/>
            <a:ext cx="13258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76872" y="39319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42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922776"/>
            <a:ext cx="21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71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49640" y="3794760"/>
            <a:ext cx="13258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49640" y="39319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42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3808" y="3922776"/>
            <a:ext cx="2103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C71A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22408" y="3794760"/>
            <a:ext cx="1325880" cy="50292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122408" y="39319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22A42"/>
                </a:solidFill>
                <a:latin typeface="Aptos"/>
              </a:defRPr>
            </a:pPr>
            <a:r>
              <a:t>Govern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8920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07E8C"/>
                </a:solidFill>
                <a:latin typeface="Aptos"/>
              </a:defRPr>
            </a:pPr>
            <a:r>
              <a:t>Technical presentation based on the final narrative report • Post Graduate Diploma in Artificial Intelligence and Machine Learning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2C5FA50A-B4F8-4CD5-AC68-F9B20FF8A058}"/>
              </a:ext>
            </a:extLst>
          </p:cNvPr>
          <p:cNvSpPr/>
          <p:nvPr/>
        </p:nvSpPr>
        <p:spPr>
          <a:xfrm>
            <a:off x="610759" y="5850121"/>
            <a:ext cx="2997200" cy="10279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dirty="0">
                <a:solidFill>
                  <a:schemeClr val="tx2"/>
                </a:solidFill>
                <a:latin typeface="Arial"/>
              </a:rPr>
              <a:t>ARISTOTLE D MAGLASANG</a:t>
            </a:r>
            <a:endParaRPr lang="en-US" sz="1200" b="0" u="none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2A42"/>
                </a:solidFill>
                <a:latin typeface="Aptos"/>
              </a:defRPr>
            </a:pPr>
            <a:r>
              <a:t>Project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07E8C"/>
                </a:solidFill>
                <a:latin typeface="Aptos"/>
              </a:defRPr>
            </a:pPr>
            <a:r>
              <a:t>From institutional problem to operational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E8C"/>
                </a:solidFill>
                <a:latin typeface="Aptos"/>
              </a:defRPr>
            </a:pPr>
            <a:r>
              <a:rPr sz="900"/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594360" cy="36576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20116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7E8C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71AD"/>
                </a:solidFill>
                <a:latin typeface="Aptos"/>
              </a:defRPr>
            </a:pPr>
            <a:r>
              <a:t>4,424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4203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E8C"/>
                </a:solidFill>
                <a:latin typeface="Aptos"/>
              </a:defRPr>
            </a:pPr>
            <a:r>
              <a:t>student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645920"/>
            <a:ext cx="20116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79" y="1755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7E8C"/>
                </a:solidFill>
                <a:latin typeface="Aptos"/>
              </a:defRPr>
            </a:pPr>
            <a:r>
              <a:t>RAW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199339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918A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254203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E8C"/>
                </a:solidFill>
                <a:latin typeface="Aptos"/>
              </a:defRPr>
            </a:pPr>
            <a:r>
              <a:t>36 predictors +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645920"/>
            <a:ext cx="20116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74920" y="1755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7E8C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99339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D37D30"/>
                </a:solidFill>
                <a:latin typeface="Aptos"/>
              </a:defRPr>
            </a:pPr>
            <a:r>
              <a:t>3 classes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54203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E8C"/>
                </a:solidFill>
                <a:latin typeface="Aptos"/>
              </a:defRPr>
            </a:pPr>
            <a:r>
              <a:t>Dropout • Enrolled • Graduate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86600" y="1645920"/>
            <a:ext cx="20116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1755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7E8C"/>
                </a:solidFill>
                <a:latin typeface="Aptos"/>
              </a:defRPr>
            </a:pPr>
            <a:r>
              <a:t>FINAL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99339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F855A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54203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E8C"/>
                </a:solidFill>
                <a:latin typeface="Aptos"/>
              </a:defRPr>
            </a:pPr>
            <a:r>
              <a:t>importance-selected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645920"/>
            <a:ext cx="201168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600" y="1755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7E8C"/>
                </a:solidFill>
                <a:latin typeface="Aptos"/>
              </a:defRPr>
            </a:pPr>
            <a:r>
              <a:t>BEST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993392"/>
            <a:ext cx="1737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71AD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54203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E8C"/>
                </a:solidFill>
                <a:latin typeface="Aptos"/>
              </a:defRPr>
            </a:pPr>
            <a:r>
              <a:t>0.77 acc • 0.70 macro F1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2461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A42"/>
                </a:solidFill>
                <a:latin typeface="Aptos"/>
              </a:defRPr>
            </a:pPr>
            <a:r>
              <a:t>Decision objective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72C"/>
                </a:solidFill>
                <a:latin typeface="Aptos"/>
              </a:defRPr>
            </a:pPr>
            <a:r>
              <a:t>Identify students who may require timely academic, financial, mentoring, or counseling support—without turning predictions into automated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32461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A42"/>
                </a:solidFill>
                <a:latin typeface="Aptos"/>
              </a:defRPr>
            </a:pPr>
            <a:r>
              <a:t>ML formulation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36118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72C"/>
                </a:solidFill>
                <a:latin typeface="Aptos"/>
              </a:defRPr>
            </a:pPr>
            <a:r>
              <a:t>Supervised multiclass classification with class-aware evaluation because the outcome distribution is moderately imbalanced.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2461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A42"/>
                </a:solidFill>
                <a:latin typeface="Aptos"/>
              </a:defRPr>
            </a:pPr>
            <a:r>
              <a:t>Key technical tension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61188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272C"/>
                </a:solidFill>
                <a:latin typeface="Aptos"/>
              </a:defRPr>
            </a:pPr>
            <a:r>
              <a:t>The Enrolled class is materially harder to distinguish, so accuracy alone is insufficient; macro F1 and class-level errors matter.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2A42"/>
                </a:solidFill>
                <a:latin typeface="Aptos"/>
              </a:defRPr>
            </a:pPr>
            <a:r>
              <a:t>Why This Problem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07E8C"/>
                </a:solidFill>
                <a:latin typeface="Aptos"/>
              </a:defRPr>
            </a:pPr>
            <a:r>
              <a:t>Prediction is valuable only if it changes the timing and quality of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E8C"/>
                </a:solidFill>
                <a:latin typeface="Aptos"/>
              </a:defRPr>
            </a:pPr>
            <a:r>
              <a:rPr sz="900"/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594360" cy="36576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64008" cy="914400"/>
          </a:xfrm>
          <a:prstGeom prst="rect">
            <a:avLst/>
          </a:prstGeom>
          <a:solidFill>
            <a:srgbClr val="B4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709928"/>
            <a:ext cx="4370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423E"/>
                </a:solidFill>
                <a:latin typeface="Aptos"/>
              </a:defRPr>
            </a:pPr>
            <a:r>
              <a:t>Late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39112"/>
            <a:ext cx="4370831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Risk becomes visible only after performance deteriorates.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15768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715768"/>
            <a:ext cx="64008" cy="914400"/>
          </a:xfrm>
          <a:prstGeom prst="rect">
            <a:avLst/>
          </a:prstGeom>
          <a:solidFill>
            <a:srgbClr val="D3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825496"/>
            <a:ext cx="4370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37D30"/>
                </a:solidFill>
                <a:latin typeface="Aptos"/>
              </a:defRPr>
            </a:pPr>
            <a:r>
              <a:t>Reactive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79"/>
            <a:ext cx="4370831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Advising and assistance arrive after disengagement has begun.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831335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831335"/>
            <a:ext cx="64008" cy="914400"/>
          </a:xfrm>
          <a:prstGeom prst="rect">
            <a:avLst/>
          </a:prstGeom>
          <a:solidFill>
            <a:srgbClr val="22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941063"/>
            <a:ext cx="4370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918A"/>
                </a:solidFill>
                <a:latin typeface="Aptos"/>
              </a:defRPr>
            </a:pPr>
            <a:r>
              <a:t>Resource dilution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270248"/>
            <a:ext cx="4370831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Limited support capacity is not prioritized by evidence.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46904"/>
            <a:ext cx="4663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946904"/>
            <a:ext cx="64008" cy="914400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5056632"/>
            <a:ext cx="437083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1AD"/>
                </a:solidFill>
                <a:latin typeface="Aptos"/>
              </a:defRPr>
            </a:pPr>
            <a:r>
              <a:t>Predictive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5385816"/>
            <a:ext cx="4370831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Risk scores + explanations can focus human review earlier.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16002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42"/>
                </a:solidFill>
                <a:latin typeface="Aptos"/>
              </a:defRPr>
            </a:pPr>
            <a:r>
              <a:t>Operational value proposition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05740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2272C"/>
                </a:solidFill>
                <a:latin typeface="Aptos"/>
              </a:defRPr>
            </a:pPr>
            <a:r>
              <a:t>• Move from reactive remediation to proactive student support.</a:t>
            </a:r>
          </a:p>
          <a:p>
            <a:pPr>
              <a:spcAft>
                <a:spcPts val="700"/>
              </a:spcAft>
              <a:defRPr sz="1500">
                <a:solidFill>
                  <a:srgbClr val="22272C"/>
                </a:solidFill>
                <a:latin typeface="Aptos"/>
              </a:defRPr>
            </a:pPr>
            <a:r>
              <a:t>• Prioritize advising, tutoring, mentoring, counseling, and financial assistance.</a:t>
            </a:r>
          </a:p>
          <a:p>
            <a:pPr>
              <a:spcAft>
                <a:spcPts val="700"/>
              </a:spcAft>
              <a:defRPr sz="1500">
                <a:solidFill>
                  <a:srgbClr val="22272C"/>
                </a:solidFill>
                <a:latin typeface="Aptos"/>
              </a:defRPr>
            </a:pPr>
            <a:r>
              <a:t>• Use interpretable risk signals rather than opaque scores.</a:t>
            </a:r>
          </a:p>
          <a:p>
            <a:pPr>
              <a:spcAft>
                <a:spcPts val="700"/>
              </a:spcAft>
              <a:defRPr sz="1500">
                <a:solidFill>
                  <a:srgbClr val="22272C"/>
                </a:solidFill>
                <a:latin typeface="Aptos"/>
              </a:defRPr>
            </a:pPr>
            <a:r>
              <a:t>• Treat retention and graduation as downstream KPIs requiring longitudinal validation.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4617720"/>
            <a:ext cx="53035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06440" y="4617720"/>
            <a:ext cx="64008" cy="1051560"/>
          </a:xfrm>
          <a:prstGeom prst="rect">
            <a:avLst/>
          </a:prstGeom>
          <a:solidFill>
            <a:srgbClr val="B4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71031" y="4727448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423E"/>
                </a:solidFill>
                <a:latin typeface="Aptos"/>
              </a:defRPr>
            </a:pPr>
            <a:r>
              <a:t>Important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5056631"/>
            <a:ext cx="5010912" cy="53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The model predicts associations, not causality. A high-risk prediction is a trigger for assessment and support—not a label or deterministic outcome.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2A42"/>
                </a:solidFill>
                <a:latin typeface="Aptos"/>
              </a:defRPr>
            </a:pPr>
            <a:r>
              <a:t>Dataset and Prediction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07E8C"/>
                </a:solidFill>
                <a:latin typeface="Aptos"/>
              </a:defRPr>
            </a:pPr>
            <a:r>
              <a:t>A multidimensional student profile with moderate 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E8C"/>
                </a:solidFill>
                <a:latin typeface="Aptos"/>
              </a:defRPr>
            </a:pPr>
            <a:r>
              <a:rPr sz="900"/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594360" cy="36576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2A42"/>
                </a:solidFill>
                <a:latin typeface="Aptos"/>
              </a:defRPr>
            </a:pPr>
            <a:r>
              <a:t>Target distribution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272C"/>
                </a:solidFill>
                <a:latin typeface="Aptos"/>
              </a:defRPr>
            </a:pPr>
            <a:r>
              <a:t>Graduate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057400"/>
            <a:ext cx="2926080" cy="23774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28800" y="2057400"/>
            <a:ext cx="2926080" cy="237744"/>
          </a:xfrm>
          <a:prstGeom prst="round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2039112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707E8C"/>
                </a:solidFill>
                <a:latin typeface="Aptos"/>
              </a:defRPr>
            </a:pPr>
            <a:r>
              <a:t>2,209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157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272C"/>
                </a:solidFill>
                <a:latin typeface="Aptos"/>
              </a:defRPr>
            </a:pPr>
            <a:r>
              <a:t>Dropout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715768"/>
            <a:ext cx="2926080" cy="23774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28800" y="2715768"/>
            <a:ext cx="1882281" cy="237744"/>
          </a:xfrm>
          <a:prstGeom prst="roundRect">
            <a:avLst/>
          </a:prstGeom>
          <a:solidFill>
            <a:srgbClr val="B4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92040" y="2697479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707E8C"/>
                </a:solidFill>
                <a:latin typeface="Aptos"/>
              </a:defRPr>
            </a:pPr>
            <a:r>
              <a:t>1,421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74135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272C"/>
                </a:solidFill>
                <a:latin typeface="Aptos"/>
              </a:defRPr>
            </a:pPr>
            <a:r>
              <a:t>Enrolled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374135"/>
            <a:ext cx="2926080" cy="237744"/>
          </a:xfrm>
          <a:prstGeom prst="roundRect">
            <a:avLst/>
          </a:prstGeom>
          <a:solidFill>
            <a:srgbClr val="F2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28800" y="3374135"/>
            <a:ext cx="1051746" cy="237744"/>
          </a:xfrm>
          <a:prstGeom prst="roundRect">
            <a:avLst/>
          </a:prstGeom>
          <a:solidFill>
            <a:srgbClr val="D3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92040" y="3355847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707E8C"/>
                </a:solidFill>
                <a:latin typeface="Aptos"/>
              </a:defRPr>
            </a:pPr>
            <a:r>
              <a:t>794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97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07E8C"/>
                </a:solidFill>
                <a:latin typeface="Aptos"/>
              </a:defRPr>
            </a:pPr>
            <a:r>
              <a:t>Class imbalance is not extreme, but it is sufficient to make class-specific Precision/Recall/F1 and macro F1 necessary.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1554480"/>
            <a:ext cx="5212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06440" y="1554480"/>
            <a:ext cx="64008" cy="713232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71031" y="1664207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1AD"/>
                </a:solidFill>
                <a:latin typeface="Aptos"/>
              </a:defRPr>
            </a:pPr>
            <a:r>
              <a:t>Academic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71031" y="1993391"/>
            <a:ext cx="491947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semester grades, approved/enrolled/evaluated curricular units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2423160"/>
            <a:ext cx="5212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06440" y="2423160"/>
            <a:ext cx="64008" cy="713232"/>
          </a:xfrm>
          <a:prstGeom prst="rect">
            <a:avLst/>
          </a:prstGeom>
          <a:solidFill>
            <a:srgbClr val="22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71031" y="253288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918A"/>
                </a:solidFill>
                <a:latin typeface="Aptos"/>
              </a:defRPr>
            </a:pPr>
            <a:r>
              <a:t>Financial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1" y="2862072"/>
            <a:ext cx="491947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tuition up-to-date, debtor, scholarship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3291839"/>
            <a:ext cx="5212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06440" y="3291839"/>
            <a:ext cx="64008" cy="713232"/>
          </a:xfrm>
          <a:prstGeom prst="rect">
            <a:avLst/>
          </a:prstGeom>
          <a:solidFill>
            <a:srgbClr val="D3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71031" y="340156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37D30"/>
                </a:solidFill>
                <a:latin typeface="Aptos"/>
              </a:defRPr>
            </a:pPr>
            <a:r>
              <a:t>Admission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1031" y="3730752"/>
            <a:ext cx="491947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admission grade, previous qualification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4160520"/>
            <a:ext cx="5212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06440" y="4160520"/>
            <a:ext cx="64008" cy="713232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71031" y="427024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855A"/>
                </a:solidFill>
                <a:latin typeface="Aptos"/>
              </a:defRPr>
            </a:pPr>
            <a:r>
              <a:t>Demographic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71031" y="4599431"/>
            <a:ext cx="491947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age, gender, marital status, international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6440" y="5029200"/>
            <a:ext cx="5212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806440" y="5029200"/>
            <a:ext cx="64008" cy="713232"/>
          </a:xfrm>
          <a:prstGeom prst="rect">
            <a:avLst/>
          </a:prstGeom>
          <a:solidFill>
            <a:srgbClr val="707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71031" y="5138928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07E8C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71031" y="5468112"/>
            <a:ext cx="4919472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unemployment, inflation, GDP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2A42"/>
                </a:solidFill>
                <a:latin typeface="Aptos"/>
              </a:defRPr>
            </a:pPr>
            <a:r>
              <a:t>End-to-End ML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07E8C"/>
                </a:solidFill>
                <a:latin typeface="Aptos"/>
              </a:defRPr>
            </a:pPr>
            <a:r>
              <a:t>The final classifier uses selected original/encoded features—not PCA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E8C"/>
                </a:solidFill>
                <a:latin typeface="Aptos"/>
              </a:defRPr>
            </a:pPr>
            <a:r>
              <a:rPr sz="900"/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594360" cy="36576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6696" y="1600200"/>
            <a:ext cx="457200" cy="45720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6" y="17099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402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2A42"/>
                </a:solidFill>
                <a:latin typeface="Aptos"/>
              </a:defRPr>
            </a:pPr>
            <a:r>
              <a:t>Quality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1444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2272C"/>
                </a:solidFill>
                <a:latin typeface="Aptos"/>
              </a:defRPr>
            </a:pPr>
            <a:r>
              <a:t>No missing values</a:t>
            </a:r>
            <a:br/>
            <a:r>
              <a:t>No duplicates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47672" y="1719072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7E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2660904" y="1600200"/>
            <a:ext cx="457200" cy="45720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660904" y="17099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22402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2A42"/>
                </a:solidFill>
                <a:latin typeface="Aptos"/>
              </a:defRPr>
            </a:pPr>
            <a:r>
              <a:t>Outlier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7128" y="2651760"/>
            <a:ext cx="1444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2272C"/>
                </a:solidFill>
                <a:latin typeface="Aptos"/>
              </a:defRPr>
            </a:pPr>
            <a:r>
              <a:t>1st–99th percentile</a:t>
            </a:r>
            <a:br/>
            <a:r>
              <a:t>capping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719072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7E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4325112" y="1600200"/>
            <a:ext cx="457200" cy="45720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5112" y="17099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1336" y="22402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2A42"/>
                </a:solidFill>
                <a:latin typeface="Aptos"/>
              </a:defRPr>
            </a:pPr>
            <a:r>
              <a:t>Representation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1336" y="2651760"/>
            <a:ext cx="1444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2272C"/>
                </a:solidFill>
                <a:latin typeface="Aptos"/>
              </a:defRPr>
            </a:pPr>
            <a:r>
              <a:t>One-hot encoding</a:t>
            </a:r>
            <a:br/>
            <a:r>
              <a:t>+ standardization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1719072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7E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5989320" y="1600200"/>
            <a:ext cx="457200" cy="45720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89320" y="17099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95544" y="22402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2A42"/>
                </a:solidFill>
                <a:latin typeface="Aptos"/>
              </a:defRPr>
            </a:pPr>
            <a:r>
              <a:t>Feature selection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95544" y="2651760"/>
            <a:ext cx="1444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2272C"/>
                </a:solidFill>
                <a:latin typeface="Aptos"/>
              </a:defRPr>
            </a:pPr>
            <a:r>
              <a:t>Random Forest importance</a:t>
            </a:r>
            <a:br/>
            <a:r>
              <a:t>Top 50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0296" y="1719072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7E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7653528" y="1600200"/>
            <a:ext cx="457200" cy="45720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53528" y="17099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9752" y="22402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2A42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9752" y="2651760"/>
            <a:ext cx="1444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2272C"/>
                </a:solidFill>
                <a:latin typeface="Aptos"/>
              </a:defRPr>
            </a:pPr>
            <a:r>
              <a:t>80:20 stratified</a:t>
            </a:r>
            <a:br/>
            <a:r>
              <a:t>random_state=42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04504" y="1719072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7E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Oval 30"/>
          <p:cNvSpPr/>
          <p:nvPr/>
        </p:nvSpPr>
        <p:spPr>
          <a:xfrm>
            <a:off x="9317736" y="1600200"/>
            <a:ext cx="457200" cy="45720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17736" y="17099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22402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2A42"/>
                </a:solidFill>
                <a:latin typeface="Aptos"/>
              </a:defRPr>
            </a:pPr>
            <a:r>
              <a:t>Modeling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2651760"/>
            <a:ext cx="1444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2272C"/>
                </a:solidFill>
                <a:latin typeface="Aptos"/>
              </a:defRPr>
            </a:pPr>
            <a:r>
              <a:t>LR • DT • RF • XGB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68712" y="1719072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07E8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Oval 35"/>
          <p:cNvSpPr/>
          <p:nvPr/>
        </p:nvSpPr>
        <p:spPr>
          <a:xfrm>
            <a:off x="10981944" y="1600200"/>
            <a:ext cx="457200" cy="45720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981944" y="17099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88168" y="2240280"/>
            <a:ext cx="1444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2A42"/>
                </a:solidFill>
                <a:latin typeface="Aptos"/>
              </a:defRPr>
            </a:pPr>
            <a:r>
              <a:t>Evaluation + XAI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88168" y="2651760"/>
            <a:ext cx="14447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22272C"/>
                </a:solidFill>
                <a:latin typeface="Aptos"/>
              </a:defRPr>
            </a:pPr>
            <a:r>
              <a:t>Macro F1 • confusion</a:t>
            </a:r>
            <a:br/>
            <a:r>
              <a:t>SHAP • LIME • PDP/ICE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3886200"/>
            <a:ext cx="52578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85800" y="3886200"/>
            <a:ext cx="64008" cy="1280160"/>
          </a:xfrm>
          <a:prstGeom prst="rect">
            <a:avLst/>
          </a:prstGeom>
          <a:solidFill>
            <a:srgbClr val="22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" y="3995928"/>
            <a:ext cx="4965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918A"/>
                </a:solidFill>
                <a:latin typeface="Aptos"/>
              </a:defRPr>
            </a:pPr>
            <a:r>
              <a:rPr dirty="0"/>
              <a:t>PCA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4325112"/>
            <a:ext cx="4965192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rPr dirty="0"/>
              <a:t>PCA was used to inspect the variance structure of the selected feature space. It was explicitly not used as the final model representation.</a:t>
            </a:r>
          </a:p>
        </p:txBody>
      </p:sp>
      <p:pic>
        <p:nvPicPr>
          <p:cNvPr id="44" name="Picture 43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703320"/>
            <a:ext cx="4663440" cy="196596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2A42"/>
                </a:solidFill>
                <a:latin typeface="Aptos"/>
              </a:defRPr>
            </a:pPr>
            <a:r>
              <a:t>Preprocessing and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07E8C"/>
                </a:solidFill>
                <a:latin typeface="Aptos"/>
              </a:defRPr>
            </a:pPr>
            <a:r>
              <a:t>Design choices, rationale, and technical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E8C"/>
                </a:solidFill>
                <a:latin typeface="Aptos"/>
              </a:defRPr>
            </a:pPr>
            <a:r>
              <a:rPr sz="900"/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594360" cy="36576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303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77724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18488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855A"/>
                </a:solidFill>
                <a:latin typeface="Aptos"/>
              </a:defRPr>
            </a:pPr>
            <a:r>
              <a:t>No imputation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47672"/>
            <a:ext cx="5010912" cy="26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Complete dataset; avoid introducing imputation assumptions.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50591"/>
            <a:ext cx="5303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450591"/>
            <a:ext cx="64008" cy="777240"/>
          </a:xfrm>
          <a:prstGeom prst="rect">
            <a:avLst/>
          </a:prstGeom>
          <a:solidFill>
            <a:srgbClr val="D3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560320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37D30"/>
                </a:solidFill>
                <a:latin typeface="Aptos"/>
              </a:defRPr>
            </a:pPr>
            <a:r>
              <a:t>Percentile capping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89503"/>
            <a:ext cx="5010912" cy="26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Preserve all observations while limiting extreme-value influence.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92424"/>
            <a:ext cx="5303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392424"/>
            <a:ext cx="64008" cy="777240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502152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1AD"/>
                </a:solidFill>
                <a:latin typeface="Aptos"/>
              </a:defRPr>
            </a:pPr>
            <a:r>
              <a:t>One-hot encoding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831335"/>
            <a:ext cx="5010912" cy="26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Convert coded categorical variables into indicators; drop first category.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334256"/>
            <a:ext cx="5303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4334256"/>
            <a:ext cx="64008" cy="777240"/>
          </a:xfrm>
          <a:prstGeom prst="rect">
            <a:avLst/>
          </a:prstGeom>
          <a:solidFill>
            <a:srgbClr val="22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4443984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918A"/>
                </a:solidFill>
                <a:latin typeface="Aptos"/>
              </a:defRPr>
            </a:pPr>
            <a:r>
              <a:t>Standardization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773168"/>
            <a:ext cx="5010912" cy="26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Normalize scale for algorithms sensitive to feature magnitude.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276088"/>
            <a:ext cx="53035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5800" y="5276088"/>
            <a:ext cx="64008" cy="77724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5385816"/>
            <a:ext cx="5010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A42"/>
                </a:solidFill>
                <a:latin typeface="Aptos"/>
              </a:defRPr>
            </a:pPr>
            <a:r>
              <a:t>Importance selection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715000"/>
            <a:ext cx="5010912" cy="26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Reduce dimensionality after encoding to 50 predictors.</a:t>
            </a:r>
          </a:p>
        </p:txBody>
      </p:sp>
      <p:pic>
        <p:nvPicPr>
          <p:cNvPr id="26" name="Picture 25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72768"/>
            <a:ext cx="4892040" cy="43891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400800" y="5989320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707E8C"/>
                </a:solidFill>
                <a:latin typeface="Aptos"/>
              </a:defRPr>
            </a:pPr>
            <a:r>
              <a:t>Correlation analysis informs redundancy; it does not establish causal relationships.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2A42"/>
                </a:solidFill>
                <a:latin typeface="Aptos"/>
              </a:defRPr>
            </a:pPr>
            <a:r>
              <a:t>What the Model Learns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07E8C"/>
                </a:solidFill>
                <a:latin typeface="Aptos"/>
              </a:defRPr>
            </a:pPr>
            <a:r>
              <a:t>Academic progression dominates the predictive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E8C"/>
                </a:solidFill>
                <a:latin typeface="Aptos"/>
              </a:defRPr>
            </a:pPr>
            <a:r>
              <a:rPr sz="900"/>
              <a:t>7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594360" cy="36576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6720840" cy="45262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572768"/>
            <a:ext cx="3794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572768"/>
            <a:ext cx="64008" cy="1005840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99831" y="1682495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1AD"/>
                </a:solidFill>
                <a:latin typeface="Aptos"/>
              </a:defRPr>
            </a:pPr>
            <a:r>
              <a:t>Strongest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9831" y="2011680"/>
            <a:ext cx="3502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2nd-semester grade and approved units, followed by 1st-semester approved units and grade.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788920"/>
            <a:ext cx="37947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788920"/>
            <a:ext cx="64008" cy="1005840"/>
          </a:xfrm>
          <a:prstGeom prst="rect">
            <a:avLst/>
          </a:prstGeom>
          <a:solidFill>
            <a:srgbClr val="22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9831" y="2898648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918A"/>
                </a:solidFill>
                <a:latin typeface="Aptos"/>
              </a:defRPr>
            </a:pPr>
            <a:r>
              <a:t>Secondary signals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9831" y="3227832"/>
            <a:ext cx="350215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Admission grade, age at enrollment, previous qualification grade, tuition status, scholarship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005072"/>
            <a:ext cx="3794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4005072"/>
            <a:ext cx="64008" cy="1143000"/>
          </a:xfrm>
          <a:prstGeom prst="rect">
            <a:avLst/>
          </a:prstGeom>
          <a:solidFill>
            <a:srgbClr val="D3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99831" y="4114800"/>
            <a:ext cx="35021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37D30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4443983"/>
            <a:ext cx="350215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The predictive framework is largely reading academic progression, with financial and admission variables adding context.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440680"/>
            <a:ext cx="3794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E8C"/>
                </a:solidFill>
                <a:latin typeface="Aptos"/>
              </a:defRPr>
            </a:pPr>
            <a:r>
              <a:t>Caution: importance ≠ causality; correlated features can share or redistribute importance.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2A42"/>
                </a:solidFill>
                <a:latin typeface="Aptos"/>
              </a:defRPr>
            </a:pPr>
            <a:r>
              <a:t>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07E8C"/>
                </a:solidFill>
                <a:latin typeface="Aptos"/>
              </a:defRPr>
            </a:pPr>
            <a:r>
              <a:t>Random Forest provides the best balance across classes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E8C"/>
                </a:solidFill>
                <a:latin typeface="Aptos"/>
              </a:defRPr>
            </a:pPr>
            <a:r>
              <a:rPr sz="900"/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594360" cy="36576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496104"/>
              </p:ext>
            </p:extLst>
          </p:nvPr>
        </p:nvGraphicFramePr>
        <p:xfrm>
          <a:off x="640080" y="1554480"/>
          <a:ext cx="658368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635240" y="1691640"/>
            <a:ext cx="169164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0" y="18013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7E8C"/>
                </a:solidFill>
                <a:latin typeface="Aptos"/>
              </a:defRPr>
            </a:pPr>
            <a:r>
              <a:t>RF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3911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C71AD"/>
                </a:solidFill>
                <a:latin typeface="Aptos"/>
              </a:defRPr>
            </a:pPr>
            <a:r>
              <a:t>0.77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58775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E8C"/>
                </a:solidFill>
                <a:latin typeface="Aptos"/>
              </a:defRPr>
            </a:pPr>
            <a:r>
              <a:t>test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1691640"/>
            <a:ext cx="1691640" cy="1234440"/>
          </a:xfrm>
          <a:prstGeom prst="roundRect">
            <a:avLst/>
          </a:prstGeom>
          <a:solidFill>
            <a:srgbClr val="F2F6F9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46920" y="180136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07E8C"/>
                </a:solidFill>
                <a:latin typeface="Aptos"/>
              </a:defRPr>
            </a:pPr>
            <a:r>
              <a:t>RF MACRO F1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920" y="2039112"/>
            <a:ext cx="1417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F855A"/>
                </a:solidFill>
                <a:latin typeface="Aptos"/>
              </a:defRPr>
            </a:pPr>
            <a:r>
              <a:t>0.70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58775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07E8C"/>
                </a:solidFill>
                <a:latin typeface="Aptos"/>
              </a:defRPr>
            </a:pPr>
            <a:r>
              <a:t>best overall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246120"/>
            <a:ext cx="3566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3246120"/>
            <a:ext cx="64008" cy="914400"/>
          </a:xfrm>
          <a:prstGeom prst="rect">
            <a:avLst/>
          </a:prstGeom>
          <a:solidFill>
            <a:srgbClr val="22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99831" y="3355848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918A"/>
                </a:solidFill>
                <a:latin typeface="Aptos"/>
              </a:defRPr>
            </a:pPr>
            <a:r>
              <a:t>Why macro F1?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3685031"/>
            <a:ext cx="3273552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It gives equal weight to all three outcomes despite unequal class frequencies.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389120"/>
            <a:ext cx="3566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35240" y="4389120"/>
            <a:ext cx="64008" cy="1143000"/>
          </a:xfrm>
          <a:prstGeom prst="rect">
            <a:avLst/>
          </a:prstGeom>
          <a:solidFill>
            <a:srgbClr val="D3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9831" y="4498848"/>
            <a:ext cx="3273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37D30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1" y="4828031"/>
            <a:ext cx="3273552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A single Decision Tree underperforms. Ensemble methods and the linear baseline are materially stronger.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2A42"/>
                </a:solidFill>
                <a:latin typeface="Aptos"/>
              </a:defRPr>
            </a:pPr>
            <a:r>
              <a:t>Class-Level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07E8C"/>
                </a:solidFill>
                <a:latin typeface="Aptos"/>
              </a:defRPr>
            </a:pPr>
            <a:r>
              <a:t>The Enrolled class is the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E8C"/>
                </a:solidFill>
                <a:latin typeface="Aptos"/>
              </a:defRPr>
            </a:pPr>
            <a:r>
              <a:rPr sz="900"/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594360" cy="36576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027607"/>
              </p:ext>
            </p:extLst>
          </p:nvPr>
        </p:nvGraphicFramePr>
        <p:xfrm>
          <a:off x="594360" y="1508760"/>
          <a:ext cx="6568440" cy="5120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Picture 6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508760"/>
            <a:ext cx="4069080" cy="3063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4709160"/>
            <a:ext cx="39319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98079" y="4709160"/>
            <a:ext cx="64008" cy="1051560"/>
          </a:xfrm>
          <a:prstGeom prst="rect">
            <a:avLst/>
          </a:prstGeom>
          <a:solidFill>
            <a:srgbClr val="B4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2671" y="4818888"/>
            <a:ext cx="36393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423E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2671" y="5148072"/>
            <a:ext cx="3639312" cy="539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Enrolled students plausibly overlap with both eventual graduates and dropouts. This is a label/state ambiguity problem as much as a modeling problem.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2A42"/>
                </a:solidFill>
                <a:latin typeface="Aptos"/>
              </a:defRPr>
            </a:pPr>
            <a:r>
              <a:t>Explainable AI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07E8C"/>
                </a:solidFill>
                <a:latin typeface="Aptos"/>
              </a:defRPr>
            </a:pPr>
            <a:r>
              <a:t>Global behavior + local explanations + response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E8C"/>
                </a:solidFill>
                <a:latin typeface="Aptos"/>
              </a:defRPr>
            </a:pPr>
            <a:r>
              <a:rPr sz="900"/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594360" cy="36576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1280160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618488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1AD"/>
                </a:solidFill>
                <a:latin typeface="Aptos"/>
              </a:defRPr>
            </a:pPr>
            <a:r>
              <a:t>Feature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47672"/>
            <a:ext cx="2267712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Global ranking of predictors used by Random Forest.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0876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508760"/>
            <a:ext cx="64008" cy="1280160"/>
          </a:xfrm>
          <a:prstGeom prst="rect">
            <a:avLst/>
          </a:prstGeom>
          <a:solidFill>
            <a:srgbClr val="22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47872" y="1618488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918A"/>
                </a:solidFill>
                <a:latin typeface="Aptos"/>
              </a:defRPr>
            </a:pPr>
            <a:r>
              <a:t>SHAP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947672"/>
            <a:ext cx="2267712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Direction and magnitude of feature contributions across predictions.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50876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508760"/>
            <a:ext cx="64008" cy="1280160"/>
          </a:xfrm>
          <a:prstGeom prst="rect">
            <a:avLst/>
          </a:prstGeom>
          <a:solidFill>
            <a:srgbClr val="D3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91072" y="1618488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37D30"/>
                </a:solidFill>
                <a:latin typeface="Aptos"/>
              </a:defRPr>
            </a:pPr>
            <a:r>
              <a:t>LIME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947672"/>
            <a:ext cx="2267712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Local surrogate explanation for a single student prediction.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508760"/>
            <a:ext cx="25603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869680" y="1508760"/>
            <a:ext cx="64008" cy="128016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34272" y="1618488"/>
            <a:ext cx="22677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855A"/>
                </a:solidFill>
                <a:latin typeface="Aptos"/>
              </a:defRPr>
            </a:pPr>
            <a:r>
              <a:t>PDP + 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947672"/>
            <a:ext cx="2267712" cy="76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Average and individual response patterns for important features.</a:t>
            </a:r>
          </a:p>
        </p:txBody>
      </p:sp>
      <p:pic>
        <p:nvPicPr>
          <p:cNvPr id="22" name="Picture 21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154680"/>
            <a:ext cx="5212080" cy="2331720"/>
          </a:xfrm>
          <a:prstGeom prst="rect">
            <a:avLst/>
          </a:prstGeom>
        </p:spPr>
      </p:pic>
      <p:pic>
        <p:nvPicPr>
          <p:cNvPr id="23" name="Picture 22" descr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154680"/>
            <a:ext cx="5074920" cy="2331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800" y="57150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7E8C"/>
                </a:solidFill>
                <a:latin typeface="Aptos"/>
              </a:defRPr>
            </a:pPr>
            <a:r>
              <a:t>Explanations are complementary; no single XAI method is sufficient for model governance.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2A42"/>
                </a:solidFill>
                <a:latin typeface="Aptos"/>
              </a:defRPr>
            </a:pPr>
            <a:r>
              <a:t>Fairness, Ethics, and Model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07E8C"/>
                </a:solidFill>
                <a:latin typeface="Aptos"/>
              </a:defRPr>
            </a:pPr>
            <a:r>
              <a:t>Educational prediction requires governance, not just validation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E8C"/>
                </a:solidFill>
                <a:latin typeface="Aptos"/>
              </a:defRPr>
            </a:pPr>
            <a:r>
              <a:rPr sz="900"/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594360" cy="36576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64008" cy="1097280"/>
          </a:xfrm>
          <a:prstGeom prst="rect">
            <a:avLst/>
          </a:prstGeom>
          <a:solidFill>
            <a:srgbClr val="B44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1618488"/>
            <a:ext cx="4965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4423E"/>
                </a:solidFill>
                <a:latin typeface="Aptos"/>
              </a:defRPr>
            </a:pPr>
            <a:r>
              <a:t>Sensitive / proxy 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947672"/>
            <a:ext cx="496519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Gender, age, scholarship, debtor status, international status; financial variables may encode socioeconomic effects.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88036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64008" cy="1097280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2990088"/>
            <a:ext cx="4965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C71AD"/>
                </a:solidFill>
                <a:latin typeface="Aptos"/>
              </a:defRPr>
            </a:pPr>
            <a:r>
              <a:t>Fairness concepts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319272"/>
            <a:ext cx="496519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Demographic Parity • Equalized Odds • Disparate Impact.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64008" cy="1097280"/>
          </a:xfrm>
          <a:prstGeom prst="rect">
            <a:avLst/>
          </a:prstGeom>
          <a:solidFill>
            <a:srgbClr val="229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4361688"/>
            <a:ext cx="4965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918A"/>
                </a:solidFill>
                <a:latin typeface="Aptos"/>
              </a:defRPr>
            </a:pPr>
            <a:r>
              <a:t>Mitigation 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4690872"/>
            <a:ext cx="496519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Class reweighting, threshold optimization, cautious oversampling/SMOTE, periodic retraining and audits.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0876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508760"/>
            <a:ext cx="64008" cy="1097280"/>
          </a:xfrm>
          <a:prstGeom prst="rect">
            <a:avLst/>
          </a:prstGeom>
          <a:solidFill>
            <a:srgbClr val="2F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1" y="1618488"/>
            <a:ext cx="4965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F855A"/>
                </a:solidFill>
                <a:latin typeface="Aptos"/>
              </a:defRPr>
            </a:pPr>
            <a:r>
              <a:rPr dirty="0"/>
              <a:t>Human-in-the-loop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1947672"/>
            <a:ext cx="496519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Predictions initiate review/support; they do not authorize punitive or automatic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88036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63640" y="2880360"/>
            <a:ext cx="64008" cy="1097280"/>
          </a:xfrm>
          <a:prstGeom prst="rect">
            <a:avLst/>
          </a:prstGeom>
          <a:solidFill>
            <a:srgbClr val="D37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1" y="2990088"/>
            <a:ext cx="4965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37D30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3319272"/>
            <a:ext cx="496519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Student demographic, financial, and academic data require controlled access across the data lifecycle.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4251960"/>
            <a:ext cx="5257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63640" y="4251960"/>
            <a:ext cx="64008" cy="109728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1" y="4361688"/>
            <a:ext cx="4965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22A42"/>
                </a:solidFill>
                <a:latin typeface="Aptos"/>
              </a:defRPr>
            </a:pPr>
            <a:r>
              <a:t>Non-causal interpretation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4690872"/>
            <a:ext cx="4965192" cy="585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22272C"/>
                </a:solidFill>
                <a:latin typeface="Aptos"/>
              </a:defRPr>
            </a:pPr>
            <a:r>
              <a:t>The system estimates predictive relationships; it does not establish why a student drops out.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2A42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707E8C"/>
                </a:solidFill>
                <a:latin typeface="Aptos"/>
              </a:defRPr>
            </a:pPr>
            <a:r>
              <a:t>What is essential to communicate in a postgraduate AI/ML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320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07E8C"/>
                </a:solidFill>
                <a:latin typeface="Aptos"/>
              </a:defRPr>
            </a:pPr>
            <a:r>
              <a:rPr sz="900"/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61872"/>
            <a:ext cx="594360" cy="36576"/>
          </a:xfrm>
          <a:prstGeom prst="rect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54533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990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A42"/>
                </a:solidFill>
                <a:latin typeface="Aptos"/>
              </a:defRPr>
            </a:pPr>
            <a:r>
              <a:t>Problem framing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39903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72C"/>
                </a:solidFill>
                <a:latin typeface="Aptos"/>
              </a:defRPr>
            </a:pPr>
            <a:r>
              <a:t>The value is early, targeted support—not classification for its own sake.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2377440"/>
            <a:ext cx="502920" cy="50292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0545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A42"/>
                </a:solidFill>
                <a:latin typeface="Aptos"/>
              </a:defRPr>
            </a:pPr>
            <a:r>
              <a:t>Pipeline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35915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72C"/>
                </a:solidFill>
                <a:latin typeface="Aptos"/>
              </a:defRPr>
            </a:pPr>
            <a:r>
              <a:t>Preprocessing → selection → stratified split → model comparison → XAI must be described precisely.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337560"/>
            <a:ext cx="502920" cy="50292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46557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319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A42"/>
                </a:solidFill>
                <a:latin typeface="Aptos"/>
              </a:defRPr>
            </a:pPr>
            <a:r>
              <a:t>Balanced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331927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72C"/>
                </a:solidFill>
                <a:latin typeface="Aptos"/>
              </a:defRPr>
            </a:pPr>
            <a:r>
              <a:t>Random Forest: 0.77 accuracy, 0.70 macro F1; Enrolled F1=0.47 remains the main weakness.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297680"/>
            <a:ext cx="502920" cy="50292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42569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79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A42"/>
                </a:solidFill>
                <a:latin typeface="Aptos"/>
              </a:defRPr>
            </a:pPr>
            <a:r>
              <a:t>Interpretability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427939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72C"/>
                </a:solidFill>
                <a:latin typeface="Aptos"/>
              </a:defRPr>
            </a:pPr>
            <a:r>
              <a:t>Academic progression is the dominant signal; XAI makes global and local behavior reviewable.</a:t>
            </a:r>
          </a:p>
        </p:txBody>
      </p:sp>
      <p:sp>
        <p:nvSpPr>
          <p:cNvPr id="22" name="Oval 21"/>
          <p:cNvSpPr/>
          <p:nvPr/>
        </p:nvSpPr>
        <p:spPr>
          <a:xfrm>
            <a:off x="685800" y="5257800"/>
            <a:ext cx="502920" cy="502920"/>
          </a:xfrm>
          <a:prstGeom prst="ellipse">
            <a:avLst/>
          </a:prstGeom>
          <a:solidFill>
            <a:srgbClr val="1C71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38581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239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22A42"/>
                </a:solidFill>
                <a:latin typeface="Aptos"/>
              </a:defRPr>
            </a:pPr>
            <a:r>
              <a:t>Responsible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239512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2272C"/>
                </a:solidFill>
                <a:latin typeface="Aptos"/>
              </a:defRPr>
            </a:pPr>
            <a:r>
              <a:t>Human oversight, fairness, privacy, drift monitoring, and longitudinal impact evaluation are part of the ML system.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1059</Words>
  <Application>Microsoft Office PowerPoint</Application>
  <PresentationFormat>Widescreen</PresentationFormat>
  <Paragraphs>199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PMA</cp:lastModifiedBy>
  <cp:revision>3</cp:revision>
  <dcterms:created xsi:type="dcterms:W3CDTF">2013-01-27T09:14:16Z</dcterms:created>
  <dcterms:modified xsi:type="dcterms:W3CDTF">2026-08-13T02:16:42Z</dcterms:modified>
  <cp:category/>
</cp:coreProperties>
</file>