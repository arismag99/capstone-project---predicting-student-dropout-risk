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8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9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1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80223C1-881C-484A-9555-20476136BAC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8EB163-8CAC-4C78-A3B6-E9DB7E01F15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D107DB-A480-413A-9D0D-88615BA32C1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CE50E8-3DB4-4E6C-8E8D-6A039F10ED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B188B1-DA33-4BFC-A947-94128BD8BFD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F806AF-6A54-4678-BC37-BB0A3D2AEAF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B29832-E2BF-4AF8-8AB8-90F70BEDA16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3B3CDC-FC37-4AFC-91AE-AEBFC5319A7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B048EC-AEDD-4E45-ACAD-6CD443E6EB7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DCB319-CF12-4891-BBC9-2D1D59E4304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DF363B-699A-4A88-97CD-739A2F6AC0E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79542A-7856-4D43-94BE-B8C954DB0D4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BEB34F-180D-46BB-86F2-FB52837BB65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/>
          <p:cNvSpPr/>
          <p:nvPr/>
        </p:nvSpPr>
        <p:spPr>
          <a:xfrm>
            <a:off x="0" y="0"/>
            <a:ext cx="12191400" cy="8208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7440" rIns="90000" bIns="37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Text 1"/>
          <p:cNvSpPr/>
          <p:nvPr/>
        </p:nvSpPr>
        <p:spPr>
          <a:xfrm>
            <a:off x="502920" y="6510600"/>
            <a:ext cx="3657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 spc="99">
                <a:solidFill>
                  <a:srgbClr val="7A8793"/>
                </a:solidFill>
                <a:effectLst/>
                <a:uFillTx/>
                <a:latin typeface="Aptos"/>
                <a:ea typeface="Aptos"/>
              </a:rPr>
              <a:t>AI &amp; ML FOR STUDENT SUCCESS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 2"/>
          <p:cNvSpPr/>
          <p:nvPr/>
        </p:nvSpPr>
        <p:spPr>
          <a:xfrm>
            <a:off x="9875520" y="6510600"/>
            <a:ext cx="17827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rPr>
              <a:t>Executive Briefing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sldNum" idx="1"/>
          </p:nvPr>
        </p:nvSpPr>
        <p:spPr>
          <a:xfrm>
            <a:off x="11722680" y="6492240"/>
            <a:ext cx="182520" cy="145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66276C5-25D0-49BE-920B-AC2DEF1F3859}" type="slidenum">
              <a:rPr lang="en-US" sz="700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rPr>
              <a:t>‹#›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/>
          <p:cNvSpPr/>
          <p:nvPr/>
        </p:nvSpPr>
        <p:spPr>
          <a:xfrm>
            <a:off x="22860" y="360"/>
            <a:ext cx="4068720" cy="6857640"/>
          </a:xfrm>
          <a:prstGeom prst="rect">
            <a:avLst/>
          </a:prstGeom>
          <a:solidFill>
            <a:srgbClr val="14324A"/>
          </a:solidFill>
          <a:ln w="12700">
            <a:solidFill>
              <a:srgbClr val="1432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1"/>
          <p:cNvSpPr/>
          <p:nvPr/>
        </p:nvSpPr>
        <p:spPr>
          <a:xfrm>
            <a:off x="558620" y="617580"/>
            <a:ext cx="299720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PREDICTING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STUDENT SUCCESS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2"/>
          <p:cNvSpPr/>
          <p:nvPr/>
        </p:nvSpPr>
        <p:spPr>
          <a:xfrm>
            <a:off x="594540" y="2400300"/>
            <a:ext cx="29972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D9E9EF"/>
                </a:solidFill>
                <a:effectLst/>
                <a:uFillTx/>
                <a:latin typeface="Aptos"/>
              </a:rPr>
              <a:t>From historical data to earlier, targeted student support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3"/>
          <p:cNvSpPr/>
          <p:nvPr/>
        </p:nvSpPr>
        <p:spPr>
          <a:xfrm>
            <a:off x="594900" y="3531800"/>
            <a:ext cx="2753640" cy="365400"/>
          </a:xfrm>
          <a:prstGeom prst="roundRect">
            <a:avLst>
              <a:gd name="adj" fmla="val 44118"/>
            </a:avLst>
          </a:prstGeom>
          <a:solidFill>
            <a:srgbClr val="176B87"/>
          </a:solidFill>
          <a:ln w="12700">
            <a:solidFill>
              <a:srgbClr val="176B8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4"/>
          <p:cNvSpPr/>
          <p:nvPr/>
        </p:nvSpPr>
        <p:spPr>
          <a:xfrm>
            <a:off x="549640" y="3492281"/>
            <a:ext cx="2798900" cy="46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EXECUTIVE BRIEFING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5"/>
          <p:cNvSpPr/>
          <p:nvPr/>
        </p:nvSpPr>
        <p:spPr>
          <a:xfrm>
            <a:off x="681080" y="5464262"/>
            <a:ext cx="2997200" cy="10279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chemeClr val="bg1"/>
                </a:solidFill>
                <a:effectLst/>
                <a:uFillTx/>
                <a:latin typeface="Aptos"/>
              </a:rPr>
              <a:t>AI &amp; Machine Learning Decision Support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dirty="0">
                <a:solidFill>
                  <a:schemeClr val="bg1"/>
                </a:solidFill>
                <a:latin typeface="Arial"/>
              </a:rPr>
              <a:t>ARISTOTLE D MAGLASANG</a:t>
            </a:r>
            <a:endParaRPr lang="en-US" sz="12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7"/>
          <p:cNvSpPr/>
          <p:nvPr/>
        </p:nvSpPr>
        <p:spPr>
          <a:xfrm>
            <a:off x="5532120" y="1143000"/>
            <a:ext cx="4480200" cy="4480200"/>
          </a:xfrm>
          <a:prstGeom prst="ellipse">
            <a:avLst/>
          </a:prstGeom>
          <a:solidFill>
            <a:srgbClr val="F4F8FA"/>
          </a:solidFill>
          <a:ln w="1905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8"/>
          <p:cNvSpPr/>
          <p:nvPr/>
        </p:nvSpPr>
        <p:spPr>
          <a:xfrm>
            <a:off x="6492240" y="2103120"/>
            <a:ext cx="2559960" cy="2559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64CC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9"/>
          <p:cNvSpPr/>
          <p:nvPr/>
        </p:nvSpPr>
        <p:spPr>
          <a:xfrm>
            <a:off x="6415680" y="2811960"/>
            <a:ext cx="25599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0" b="1" u="none" strike="noStrike" dirty="0">
                <a:solidFill>
                  <a:srgbClr val="176B87"/>
                </a:solidFill>
                <a:effectLst/>
                <a:uFillTx/>
                <a:latin typeface="Aptos"/>
              </a:rPr>
              <a:t>AI</a:t>
            </a:r>
            <a:endParaRPr lang="en-US" sz="1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0"/>
          <p:cNvSpPr/>
          <p:nvPr/>
        </p:nvSpPr>
        <p:spPr>
          <a:xfrm>
            <a:off x="6491880" y="370296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 dirty="0">
                <a:solidFill>
                  <a:srgbClr val="14324A"/>
                </a:solidFill>
                <a:effectLst/>
                <a:uFillTx/>
                <a:latin typeface="Aptos"/>
              </a:rPr>
              <a:t>EARLY WARNING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1"/>
          <p:cNvSpPr/>
          <p:nvPr/>
        </p:nvSpPr>
        <p:spPr>
          <a:xfrm>
            <a:off x="9555480" y="1002720"/>
            <a:ext cx="1965600" cy="65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2"/>
          <p:cNvSpPr/>
          <p:nvPr/>
        </p:nvSpPr>
        <p:spPr>
          <a:xfrm>
            <a:off x="9725300" y="1117600"/>
            <a:ext cx="1599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 dirty="0">
                <a:solidFill>
                  <a:srgbClr val="5B6770"/>
                </a:solidFill>
                <a:effectLst/>
                <a:uFillTx/>
                <a:latin typeface="Aptos"/>
              </a:rPr>
              <a:t>Academic progress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3"/>
          <p:cNvSpPr/>
          <p:nvPr/>
        </p:nvSpPr>
        <p:spPr>
          <a:xfrm flipV="1">
            <a:off x="8915400" y="1417320"/>
            <a:ext cx="594360" cy="1965960"/>
          </a:xfrm>
          <a:prstGeom prst="line">
            <a:avLst/>
          </a:prstGeom>
          <a:ln w="19050">
            <a:solidFill>
              <a:srgbClr val="DDE8E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4"/>
          <p:cNvSpPr/>
          <p:nvPr/>
        </p:nvSpPr>
        <p:spPr>
          <a:xfrm>
            <a:off x="9586320" y="2758080"/>
            <a:ext cx="1965600" cy="65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5"/>
          <p:cNvSpPr/>
          <p:nvPr/>
        </p:nvSpPr>
        <p:spPr>
          <a:xfrm>
            <a:off x="9725300" y="2880540"/>
            <a:ext cx="1599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dirty="0">
                <a:solidFill>
                  <a:srgbClr val="5B6770"/>
                </a:solidFill>
                <a:latin typeface="Aptos"/>
              </a:rPr>
              <a:t>Financial signals</a:t>
            </a:r>
          </a:p>
        </p:txBody>
      </p:sp>
      <p:sp>
        <p:nvSpPr>
          <p:cNvPr id="28" name="Shape 16"/>
          <p:cNvSpPr/>
          <p:nvPr/>
        </p:nvSpPr>
        <p:spPr>
          <a:xfrm flipV="1">
            <a:off x="8915400" y="3108960"/>
            <a:ext cx="594360" cy="274320"/>
          </a:xfrm>
          <a:prstGeom prst="line">
            <a:avLst/>
          </a:prstGeom>
          <a:ln w="19050">
            <a:solidFill>
              <a:srgbClr val="DDE8E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7"/>
          <p:cNvSpPr/>
          <p:nvPr/>
        </p:nvSpPr>
        <p:spPr>
          <a:xfrm>
            <a:off x="9557300" y="4526100"/>
            <a:ext cx="1965600" cy="65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8"/>
          <p:cNvSpPr/>
          <p:nvPr/>
        </p:nvSpPr>
        <p:spPr>
          <a:xfrm>
            <a:off x="9725300" y="4626720"/>
            <a:ext cx="1599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 dirty="0">
                <a:solidFill>
                  <a:srgbClr val="5B6770"/>
                </a:solidFill>
                <a:effectLst/>
                <a:uFillTx/>
                <a:latin typeface="Aptos"/>
              </a:rPr>
              <a:t>Admissions </a:t>
            </a:r>
            <a:r>
              <a:rPr lang="en-US" sz="2000" b="1" dirty="0">
                <a:solidFill>
                  <a:srgbClr val="5B6770"/>
                </a:solidFill>
                <a:latin typeface="Aptos"/>
              </a:rPr>
              <a:t>context</a:t>
            </a:r>
          </a:p>
        </p:txBody>
      </p:sp>
      <p:sp>
        <p:nvSpPr>
          <p:cNvPr id="31" name="Shape 19"/>
          <p:cNvSpPr/>
          <p:nvPr/>
        </p:nvSpPr>
        <p:spPr>
          <a:xfrm>
            <a:off x="8915400" y="3383280"/>
            <a:ext cx="594360" cy="1417320"/>
          </a:xfrm>
          <a:prstGeom prst="line">
            <a:avLst/>
          </a:prstGeom>
          <a:ln w="19050">
            <a:solidFill>
              <a:srgbClr val="DDE8E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sldNum" idx="5"/>
          </p:nvPr>
        </p:nvSpPr>
        <p:spPr>
          <a:xfrm>
            <a:off x="11722680" y="6492240"/>
            <a:ext cx="182520" cy="145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32B0326-EDC6-44D8-9974-7FBDADA9E303}" type="slidenum">
              <a:rPr lang="en-US" sz="700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rPr>
              <a:t>1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0"/>
          <p:cNvSpPr/>
          <p:nvPr/>
        </p:nvSpPr>
        <p:spPr>
          <a:xfrm>
            <a:off x="594360" y="320040"/>
            <a:ext cx="4388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spc="159">
                <a:solidFill>
                  <a:srgbClr val="176B87"/>
                </a:solidFill>
                <a:effectLst/>
                <a:uFillTx/>
                <a:latin typeface="Aptos"/>
              </a:rPr>
              <a:t>WHY THIS MATTERS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"/>
          <p:cNvSpPr/>
          <p:nvPr/>
        </p:nvSpPr>
        <p:spPr>
          <a:xfrm>
            <a:off x="594360" y="59436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4324A"/>
                </a:solidFill>
                <a:effectLst/>
                <a:uFillTx/>
                <a:latin typeface="Aptos"/>
              </a:rPr>
              <a:t>The business challenge: intervene before disengagement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"/>
          <p:cNvSpPr/>
          <p:nvPr/>
        </p:nvSpPr>
        <p:spPr>
          <a:xfrm>
            <a:off x="594360" y="1261800"/>
            <a:ext cx="1088100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Student attrition is not only an academic issue—it affects institutional performance, planning and how scarce support resources are deployed.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3"/>
          <p:cNvSpPr/>
          <p:nvPr/>
        </p:nvSpPr>
        <p:spPr>
          <a:xfrm>
            <a:off x="594360" y="2204720"/>
            <a:ext cx="3428640" cy="20113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4"/>
          <p:cNvSpPr/>
          <p:nvPr/>
        </p:nvSpPr>
        <p:spPr>
          <a:xfrm>
            <a:off x="594360" y="2204720"/>
            <a:ext cx="54360" cy="201132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5"/>
          <p:cNvSpPr/>
          <p:nvPr/>
        </p:nvSpPr>
        <p:spPr>
          <a:xfrm>
            <a:off x="795600" y="2369240"/>
            <a:ext cx="3062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BUSINESS NEED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6"/>
          <p:cNvSpPr/>
          <p:nvPr/>
        </p:nvSpPr>
        <p:spPr>
          <a:xfrm>
            <a:off x="795600" y="2707640"/>
            <a:ext cx="30628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 dirty="0">
                <a:solidFill>
                  <a:srgbClr val="14324A"/>
                </a:solidFill>
                <a:effectLst/>
                <a:uFillTx/>
                <a:latin typeface="Aptos"/>
              </a:rPr>
              <a:t>Earlier visibility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7"/>
          <p:cNvSpPr/>
          <p:nvPr/>
        </p:nvSpPr>
        <p:spPr>
          <a:xfrm>
            <a:off x="795600" y="3228920"/>
            <a:ext cx="306288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5B6770"/>
                </a:solidFill>
                <a:effectLst/>
                <a:uFillTx/>
                <a:latin typeface="Aptos"/>
              </a:rPr>
              <a:t>Identify students who may need support before withdrawal becomes the outcome.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8"/>
          <p:cNvSpPr/>
          <p:nvPr/>
        </p:nvSpPr>
        <p:spPr>
          <a:xfrm>
            <a:off x="4370760" y="2204720"/>
            <a:ext cx="3428640" cy="20113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9"/>
          <p:cNvSpPr/>
          <p:nvPr/>
        </p:nvSpPr>
        <p:spPr>
          <a:xfrm>
            <a:off x="4370760" y="2204720"/>
            <a:ext cx="54360" cy="2011320"/>
          </a:xfrm>
          <a:prstGeom prst="rect">
            <a:avLst/>
          </a:prstGeom>
          <a:solidFill>
            <a:srgbClr val="2E7D66"/>
          </a:solidFill>
          <a:ln w="12700">
            <a:solidFill>
              <a:srgbClr val="2E7D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0"/>
          <p:cNvSpPr/>
          <p:nvPr/>
        </p:nvSpPr>
        <p:spPr>
          <a:xfrm>
            <a:off x="4572000" y="2369240"/>
            <a:ext cx="3062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OPERATING NEED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1"/>
          <p:cNvSpPr/>
          <p:nvPr/>
        </p:nvSpPr>
        <p:spPr>
          <a:xfrm>
            <a:off x="4572000" y="2707640"/>
            <a:ext cx="30628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4324A"/>
                </a:solidFill>
                <a:effectLst/>
                <a:uFillTx/>
                <a:latin typeface="Aptos"/>
              </a:rPr>
              <a:t>Prioritize action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2"/>
          <p:cNvSpPr/>
          <p:nvPr/>
        </p:nvSpPr>
        <p:spPr>
          <a:xfrm>
            <a:off x="4572000" y="3228920"/>
            <a:ext cx="306288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Direct advising, tutoring, mentoring, counseling and financial support where need is greatest.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3"/>
          <p:cNvSpPr/>
          <p:nvPr/>
        </p:nvSpPr>
        <p:spPr>
          <a:xfrm>
            <a:off x="8147160" y="2204720"/>
            <a:ext cx="3758040" cy="20113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4"/>
          <p:cNvSpPr/>
          <p:nvPr/>
        </p:nvSpPr>
        <p:spPr>
          <a:xfrm>
            <a:off x="8147160" y="2204720"/>
            <a:ext cx="54360" cy="2011320"/>
          </a:xfrm>
          <a:prstGeom prst="rect">
            <a:avLst/>
          </a:prstGeom>
          <a:solidFill>
            <a:srgbClr val="C58A22"/>
          </a:solidFill>
          <a:ln w="12700">
            <a:solidFill>
              <a:srgbClr val="C58A2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5"/>
          <p:cNvSpPr/>
          <p:nvPr/>
        </p:nvSpPr>
        <p:spPr>
          <a:xfrm>
            <a:off x="8348400" y="2369240"/>
            <a:ext cx="3062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STRATEGIC NEED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6"/>
          <p:cNvSpPr/>
          <p:nvPr/>
        </p:nvSpPr>
        <p:spPr>
          <a:xfrm>
            <a:off x="8348400" y="2707640"/>
            <a:ext cx="3556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 dirty="0">
                <a:solidFill>
                  <a:srgbClr val="14324A"/>
                </a:solidFill>
                <a:effectLst/>
                <a:uFillTx/>
                <a:latin typeface="Aptos"/>
              </a:rPr>
              <a:t>Improve outcomes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7"/>
          <p:cNvSpPr/>
          <p:nvPr/>
        </p:nvSpPr>
        <p:spPr>
          <a:xfrm>
            <a:off x="8348400" y="3228920"/>
            <a:ext cx="306288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5B6770"/>
                </a:solidFill>
                <a:effectLst/>
                <a:uFillTx/>
                <a:latin typeface="Aptos"/>
              </a:rPr>
              <a:t>Retention and graduation are the downstream outcomes that matter—not the model score alone.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8"/>
          <p:cNvSpPr/>
          <p:nvPr/>
        </p:nvSpPr>
        <p:spPr>
          <a:xfrm>
            <a:off x="594360" y="457200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76B87"/>
                </a:solidFill>
                <a:effectLst/>
                <a:uFillTx/>
                <a:latin typeface="Aptos"/>
              </a:rPr>
              <a:t>Executive question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9"/>
          <p:cNvSpPr/>
          <p:nvPr/>
        </p:nvSpPr>
        <p:spPr>
          <a:xfrm>
            <a:off x="594360" y="495612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4324A"/>
                </a:solidFill>
                <a:effectLst/>
                <a:uFillTx/>
                <a:latin typeface="Aptos"/>
              </a:rPr>
              <a:t>Can existing student data help leaders identify risk early enough to take effective, equitable action?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1"/>
          <p:cNvSpPr>
            <a:spLocks noGrp="1"/>
          </p:cNvSpPr>
          <p:nvPr>
            <p:ph type="sldNum" idx="6"/>
          </p:nvPr>
        </p:nvSpPr>
        <p:spPr>
          <a:xfrm>
            <a:off x="11722680" y="6492240"/>
            <a:ext cx="182520" cy="145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271649E-95F5-43F6-87E7-AC9DECA47D67}" type="slidenum">
              <a:rPr lang="en-US" sz="900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rPr>
              <a:t>2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0"/>
          <p:cNvSpPr/>
          <p:nvPr/>
        </p:nvSpPr>
        <p:spPr>
          <a:xfrm>
            <a:off x="594360" y="320040"/>
            <a:ext cx="4388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 spc="159">
                <a:solidFill>
                  <a:srgbClr val="176B87"/>
                </a:solidFill>
                <a:effectLst/>
                <a:uFillTx/>
                <a:latin typeface="Aptos"/>
              </a:rPr>
              <a:t>SOLUTION DESIGN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"/>
          <p:cNvSpPr/>
          <p:nvPr/>
        </p:nvSpPr>
        <p:spPr>
          <a:xfrm>
            <a:off x="594360" y="59436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4324A"/>
                </a:solidFill>
                <a:effectLst/>
                <a:uFillTx/>
                <a:latin typeface="Aptos"/>
              </a:rPr>
              <a:t>The solution in one view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2"/>
          <p:cNvSpPr/>
          <p:nvPr/>
        </p:nvSpPr>
        <p:spPr>
          <a:xfrm>
            <a:off x="594360" y="1600200"/>
            <a:ext cx="1782720" cy="2971440"/>
          </a:xfrm>
          <a:prstGeom prst="roundRect">
            <a:avLst>
              <a:gd name="adj" fmla="val 4103"/>
            </a:avLst>
          </a:prstGeom>
          <a:solidFill>
            <a:srgbClr val="F4F8FA"/>
          </a:solidFill>
          <a:ln w="1270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3"/>
          <p:cNvSpPr/>
          <p:nvPr/>
        </p:nvSpPr>
        <p:spPr>
          <a:xfrm>
            <a:off x="740520" y="1764720"/>
            <a:ext cx="383760" cy="383760"/>
          </a:xfrm>
          <a:prstGeom prst="ellipse">
            <a:avLst/>
          </a:prstGeom>
          <a:solidFill>
            <a:srgbClr val="176B87"/>
          </a:solidFill>
          <a:ln w="12700">
            <a:solidFill>
              <a:srgbClr val="176B8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4"/>
          <p:cNvSpPr/>
          <p:nvPr/>
        </p:nvSpPr>
        <p:spPr>
          <a:xfrm>
            <a:off x="74052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5"/>
          <p:cNvSpPr/>
          <p:nvPr/>
        </p:nvSpPr>
        <p:spPr>
          <a:xfrm>
            <a:off x="1234440" y="1883520"/>
            <a:ext cx="1005480" cy="39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 dirty="0">
                <a:solidFill>
                  <a:srgbClr val="14324A"/>
                </a:solidFill>
                <a:effectLst/>
                <a:uFillTx/>
                <a:latin typeface="Aptos"/>
              </a:rPr>
              <a:t>Student Data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6"/>
          <p:cNvSpPr/>
          <p:nvPr/>
        </p:nvSpPr>
        <p:spPr>
          <a:xfrm>
            <a:off x="731520" y="2670300"/>
            <a:ext cx="1645560" cy="23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5B6770"/>
                </a:solidFill>
                <a:effectLst/>
                <a:uFillTx/>
                <a:latin typeface="Aptos"/>
              </a:rPr>
              <a:t>Academic, financial, demographic &amp; admission indicators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7"/>
          <p:cNvSpPr/>
          <p:nvPr/>
        </p:nvSpPr>
        <p:spPr>
          <a:xfrm>
            <a:off x="2441520" y="2651760"/>
            <a:ext cx="411120" cy="594000"/>
          </a:xfrm>
          <a:prstGeom prst="chevron">
            <a:avLst>
              <a:gd name="adj" fmla="val 50000"/>
            </a:avLst>
          </a:prstGeom>
          <a:solidFill>
            <a:srgbClr val="64CCC5"/>
          </a:solidFill>
          <a:ln w="12700">
            <a:solidFill>
              <a:srgbClr val="64CC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8"/>
          <p:cNvSpPr/>
          <p:nvPr/>
        </p:nvSpPr>
        <p:spPr>
          <a:xfrm>
            <a:off x="2971800" y="1600200"/>
            <a:ext cx="1782720" cy="2971440"/>
          </a:xfrm>
          <a:prstGeom prst="roundRect">
            <a:avLst>
              <a:gd name="adj" fmla="val 4103"/>
            </a:avLst>
          </a:prstGeom>
          <a:solidFill>
            <a:srgbClr val="F4F8FA"/>
          </a:solidFill>
          <a:ln w="1270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9"/>
          <p:cNvSpPr/>
          <p:nvPr/>
        </p:nvSpPr>
        <p:spPr>
          <a:xfrm>
            <a:off x="3117960" y="1764720"/>
            <a:ext cx="383760" cy="383760"/>
          </a:xfrm>
          <a:prstGeom prst="ellipse">
            <a:avLst/>
          </a:prstGeom>
          <a:solidFill>
            <a:srgbClr val="176B87"/>
          </a:solidFill>
          <a:ln w="12700">
            <a:solidFill>
              <a:srgbClr val="176B8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0"/>
          <p:cNvSpPr/>
          <p:nvPr/>
        </p:nvSpPr>
        <p:spPr>
          <a:xfrm>
            <a:off x="311796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1"/>
          <p:cNvSpPr/>
          <p:nvPr/>
        </p:nvSpPr>
        <p:spPr>
          <a:xfrm>
            <a:off x="3611880" y="1805940"/>
            <a:ext cx="10054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 dirty="0">
                <a:solidFill>
                  <a:srgbClr val="14324A"/>
                </a:solidFill>
                <a:effectLst/>
                <a:uFillTx/>
                <a:latin typeface="Aptos"/>
              </a:rPr>
              <a:t>Prepare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2"/>
          <p:cNvSpPr/>
          <p:nvPr/>
        </p:nvSpPr>
        <p:spPr>
          <a:xfrm>
            <a:off x="3113820" y="2718160"/>
            <a:ext cx="1645560" cy="23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5B6770"/>
                </a:solidFill>
                <a:effectLst/>
                <a:uFillTx/>
                <a:latin typeface="Aptos"/>
              </a:rPr>
              <a:t>Clean, encode, standardize and select useful signals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3"/>
          <p:cNvSpPr/>
          <p:nvPr/>
        </p:nvSpPr>
        <p:spPr>
          <a:xfrm>
            <a:off x="4818960" y="2651760"/>
            <a:ext cx="411120" cy="594000"/>
          </a:xfrm>
          <a:prstGeom prst="chevron">
            <a:avLst>
              <a:gd name="adj" fmla="val 50000"/>
            </a:avLst>
          </a:prstGeom>
          <a:solidFill>
            <a:srgbClr val="64CCC5"/>
          </a:solidFill>
          <a:ln w="12700">
            <a:solidFill>
              <a:srgbClr val="64CC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4"/>
          <p:cNvSpPr/>
          <p:nvPr/>
        </p:nvSpPr>
        <p:spPr>
          <a:xfrm>
            <a:off x="5349240" y="1600200"/>
            <a:ext cx="1782720" cy="2971440"/>
          </a:xfrm>
          <a:prstGeom prst="roundRect">
            <a:avLst>
              <a:gd name="adj" fmla="val 4103"/>
            </a:avLst>
          </a:prstGeom>
          <a:solidFill>
            <a:srgbClr val="F4F8FA"/>
          </a:solidFill>
          <a:ln w="1270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5"/>
          <p:cNvSpPr/>
          <p:nvPr/>
        </p:nvSpPr>
        <p:spPr>
          <a:xfrm>
            <a:off x="5495400" y="1764720"/>
            <a:ext cx="383760" cy="383760"/>
          </a:xfrm>
          <a:prstGeom prst="ellipse">
            <a:avLst/>
          </a:prstGeom>
          <a:solidFill>
            <a:srgbClr val="176B87"/>
          </a:solidFill>
          <a:ln w="12700">
            <a:solidFill>
              <a:srgbClr val="176B8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6"/>
          <p:cNvSpPr/>
          <p:nvPr/>
        </p:nvSpPr>
        <p:spPr>
          <a:xfrm>
            <a:off x="549540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7"/>
          <p:cNvSpPr/>
          <p:nvPr/>
        </p:nvSpPr>
        <p:spPr>
          <a:xfrm>
            <a:off x="6025320" y="1805940"/>
            <a:ext cx="10054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 dirty="0">
                <a:solidFill>
                  <a:srgbClr val="14324A"/>
                </a:solidFill>
                <a:effectLst/>
                <a:uFillTx/>
                <a:latin typeface="Aptos"/>
              </a:rPr>
              <a:t>Predict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8"/>
          <p:cNvSpPr/>
          <p:nvPr/>
        </p:nvSpPr>
        <p:spPr>
          <a:xfrm>
            <a:off x="5440350" y="2670300"/>
            <a:ext cx="1622700" cy="23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5B6770"/>
                </a:solidFill>
                <a:effectLst/>
                <a:uFillTx/>
                <a:latin typeface="Aptos"/>
              </a:rPr>
              <a:t>Compare four models; select the best-balanced performer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9"/>
          <p:cNvSpPr/>
          <p:nvPr/>
        </p:nvSpPr>
        <p:spPr>
          <a:xfrm>
            <a:off x="7196400" y="2651760"/>
            <a:ext cx="411120" cy="594000"/>
          </a:xfrm>
          <a:prstGeom prst="chevron">
            <a:avLst>
              <a:gd name="adj" fmla="val 50000"/>
            </a:avLst>
          </a:prstGeom>
          <a:solidFill>
            <a:srgbClr val="64CCC5"/>
          </a:solidFill>
          <a:ln w="12700">
            <a:solidFill>
              <a:srgbClr val="64CC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20"/>
          <p:cNvSpPr/>
          <p:nvPr/>
        </p:nvSpPr>
        <p:spPr>
          <a:xfrm>
            <a:off x="7726680" y="1600200"/>
            <a:ext cx="1782720" cy="2971440"/>
          </a:xfrm>
          <a:prstGeom prst="roundRect">
            <a:avLst>
              <a:gd name="adj" fmla="val 4103"/>
            </a:avLst>
          </a:prstGeom>
          <a:solidFill>
            <a:srgbClr val="F4F8FA"/>
          </a:solidFill>
          <a:ln w="1270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21"/>
          <p:cNvSpPr/>
          <p:nvPr/>
        </p:nvSpPr>
        <p:spPr>
          <a:xfrm>
            <a:off x="7872840" y="1764720"/>
            <a:ext cx="383760" cy="383760"/>
          </a:xfrm>
          <a:prstGeom prst="ellipse">
            <a:avLst/>
          </a:prstGeom>
          <a:solidFill>
            <a:srgbClr val="176B87"/>
          </a:solidFill>
          <a:ln w="12700">
            <a:solidFill>
              <a:srgbClr val="176B8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2"/>
          <p:cNvSpPr/>
          <p:nvPr/>
        </p:nvSpPr>
        <p:spPr>
          <a:xfrm>
            <a:off x="787284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3"/>
          <p:cNvSpPr/>
          <p:nvPr/>
        </p:nvSpPr>
        <p:spPr>
          <a:xfrm>
            <a:off x="8366760" y="1795780"/>
            <a:ext cx="10054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 dirty="0">
                <a:solidFill>
                  <a:srgbClr val="14324A"/>
                </a:solidFill>
                <a:effectLst/>
                <a:uFillTx/>
                <a:latin typeface="Aptos"/>
              </a:rPr>
              <a:t>Explain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24"/>
          <p:cNvSpPr/>
          <p:nvPr/>
        </p:nvSpPr>
        <p:spPr>
          <a:xfrm>
            <a:off x="7772040" y="2713300"/>
            <a:ext cx="1714470" cy="23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5B6770"/>
                </a:solidFill>
                <a:effectLst/>
                <a:uFillTx/>
                <a:latin typeface="Aptos"/>
              </a:rPr>
              <a:t>Show the factors behind each risk signal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25"/>
          <p:cNvSpPr/>
          <p:nvPr/>
        </p:nvSpPr>
        <p:spPr>
          <a:xfrm>
            <a:off x="9573840" y="2651760"/>
            <a:ext cx="411120" cy="594000"/>
          </a:xfrm>
          <a:prstGeom prst="chevron">
            <a:avLst>
              <a:gd name="adj" fmla="val 50000"/>
            </a:avLst>
          </a:prstGeom>
          <a:solidFill>
            <a:srgbClr val="64CCC5"/>
          </a:solidFill>
          <a:ln w="12700">
            <a:solidFill>
              <a:srgbClr val="64CC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26"/>
          <p:cNvSpPr/>
          <p:nvPr/>
        </p:nvSpPr>
        <p:spPr>
          <a:xfrm>
            <a:off x="10104120" y="1600200"/>
            <a:ext cx="1782720" cy="2971440"/>
          </a:xfrm>
          <a:prstGeom prst="roundRect">
            <a:avLst>
              <a:gd name="adj" fmla="val 4103"/>
            </a:avLst>
          </a:prstGeom>
          <a:solidFill>
            <a:srgbClr val="F4F8FA"/>
          </a:solidFill>
          <a:ln w="1270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27"/>
          <p:cNvSpPr/>
          <p:nvPr/>
        </p:nvSpPr>
        <p:spPr>
          <a:xfrm>
            <a:off x="10250280" y="1764720"/>
            <a:ext cx="383760" cy="383760"/>
          </a:xfrm>
          <a:prstGeom prst="ellipse">
            <a:avLst/>
          </a:prstGeom>
          <a:solidFill>
            <a:srgbClr val="176B87"/>
          </a:solidFill>
          <a:ln w="12700">
            <a:solidFill>
              <a:srgbClr val="176B8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8"/>
          <p:cNvSpPr/>
          <p:nvPr/>
        </p:nvSpPr>
        <p:spPr>
          <a:xfrm>
            <a:off x="1025028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9"/>
          <p:cNvSpPr/>
          <p:nvPr/>
        </p:nvSpPr>
        <p:spPr>
          <a:xfrm>
            <a:off x="10845880" y="1809640"/>
            <a:ext cx="10054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 dirty="0">
                <a:solidFill>
                  <a:srgbClr val="14324A"/>
                </a:solidFill>
                <a:effectLst/>
                <a:uFillTx/>
                <a:latin typeface="Aptos"/>
              </a:rPr>
              <a:t>Act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30"/>
          <p:cNvSpPr/>
          <p:nvPr/>
        </p:nvSpPr>
        <p:spPr>
          <a:xfrm>
            <a:off x="10142370" y="2684070"/>
            <a:ext cx="1706220" cy="23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5B6770"/>
                </a:solidFill>
                <a:effectLst/>
                <a:uFillTx/>
                <a:latin typeface="Aptos"/>
              </a:rPr>
              <a:t>Route students to human-led support and track outcomes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31"/>
          <p:cNvSpPr/>
          <p:nvPr/>
        </p:nvSpPr>
        <p:spPr>
          <a:xfrm>
            <a:off x="640080" y="4938120"/>
            <a:ext cx="10881000" cy="6586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 dirty="0">
                <a:solidFill>
                  <a:srgbClr val="14324A"/>
                </a:solidFill>
                <a:effectLst/>
                <a:uFillTx/>
                <a:latin typeface="Aptos"/>
              </a:rPr>
              <a:t>Design principle: 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>
                <a:solidFill>
                  <a:srgbClr val="14324A"/>
                </a:solidFill>
                <a:effectLst/>
                <a:uFillTx/>
                <a:latin typeface="Aptos"/>
              </a:rPr>
              <a:t>AI supports professional judgment; it does not make consequential student decisions.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32"/>
          <p:cNvSpPr/>
          <p:nvPr/>
        </p:nvSpPr>
        <p:spPr>
          <a:xfrm>
            <a:off x="594360" y="5650920"/>
            <a:ext cx="10881000" cy="456840"/>
          </a:xfrm>
          <a:prstGeom prst="roundRect">
            <a:avLst>
              <a:gd name="adj" fmla="val 16667"/>
            </a:avLst>
          </a:prstGeom>
          <a:solidFill>
            <a:srgbClr val="EAF5F5"/>
          </a:solidFill>
          <a:ln w="12700">
            <a:solidFill>
              <a:srgbClr val="EAF5F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33"/>
          <p:cNvSpPr/>
          <p:nvPr/>
        </p:nvSpPr>
        <p:spPr>
          <a:xfrm>
            <a:off x="822960" y="5650920"/>
            <a:ext cx="10423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76B87"/>
                </a:solidFill>
                <a:effectLst/>
                <a:uFillTx/>
                <a:latin typeface="Aptos"/>
              </a:rPr>
              <a:t>Outcome categories:  DROP OUT   •   ENROLLED   •   GRADUATE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1"/>
          <p:cNvSpPr>
            <a:spLocks noGrp="1"/>
          </p:cNvSpPr>
          <p:nvPr>
            <p:ph type="sldNum" idx="7"/>
          </p:nvPr>
        </p:nvSpPr>
        <p:spPr>
          <a:xfrm>
            <a:off x="11722680" y="6492240"/>
            <a:ext cx="182520" cy="145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3BE698F-6D20-4AFB-AA67-6DCDDC9A3A69}" type="slidenum">
              <a:rPr lang="en-US" sz="700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rPr>
              <a:t>3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0"/>
          <p:cNvSpPr/>
          <p:nvPr/>
        </p:nvSpPr>
        <p:spPr>
          <a:xfrm>
            <a:off x="594360" y="563880"/>
            <a:ext cx="4388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 spc="159">
                <a:solidFill>
                  <a:srgbClr val="176B87"/>
                </a:solidFill>
                <a:effectLst/>
                <a:uFillTx/>
                <a:latin typeface="Aptos"/>
              </a:rPr>
              <a:t>DATA FOUNDATION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"/>
          <p:cNvSpPr/>
          <p:nvPr/>
        </p:nvSpPr>
        <p:spPr>
          <a:xfrm>
            <a:off x="594360" y="83820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 dirty="0">
                <a:solidFill>
                  <a:srgbClr val="14324A"/>
                </a:solidFill>
                <a:effectLst/>
                <a:uFillTx/>
                <a:latin typeface="Aptos"/>
              </a:rPr>
              <a:t>What the model learns from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"/>
          <p:cNvSpPr/>
          <p:nvPr/>
        </p:nvSpPr>
        <p:spPr>
          <a:xfrm>
            <a:off x="594360" y="1569720"/>
            <a:ext cx="2514240" cy="15541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3"/>
          <p:cNvSpPr/>
          <p:nvPr/>
        </p:nvSpPr>
        <p:spPr>
          <a:xfrm>
            <a:off x="594360" y="1569720"/>
            <a:ext cx="54360" cy="155412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4"/>
          <p:cNvSpPr/>
          <p:nvPr/>
        </p:nvSpPr>
        <p:spPr>
          <a:xfrm>
            <a:off x="795600" y="1734240"/>
            <a:ext cx="2148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DATASET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5"/>
          <p:cNvSpPr/>
          <p:nvPr/>
        </p:nvSpPr>
        <p:spPr>
          <a:xfrm>
            <a:off x="795600" y="2072640"/>
            <a:ext cx="21484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4324A"/>
                </a:solidFill>
                <a:effectLst/>
                <a:uFillTx/>
                <a:latin typeface="Aptos"/>
              </a:rPr>
              <a:t>4,424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6"/>
          <p:cNvSpPr/>
          <p:nvPr/>
        </p:nvSpPr>
        <p:spPr>
          <a:xfrm>
            <a:off x="795600" y="2593920"/>
            <a:ext cx="21484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student records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7"/>
          <p:cNvSpPr/>
          <p:nvPr/>
        </p:nvSpPr>
        <p:spPr>
          <a:xfrm>
            <a:off x="3337560" y="1569720"/>
            <a:ext cx="2514240" cy="15541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8"/>
          <p:cNvSpPr/>
          <p:nvPr/>
        </p:nvSpPr>
        <p:spPr>
          <a:xfrm>
            <a:off x="3337560" y="1569720"/>
            <a:ext cx="54360" cy="1554120"/>
          </a:xfrm>
          <a:prstGeom prst="rect">
            <a:avLst/>
          </a:prstGeom>
          <a:solidFill>
            <a:srgbClr val="2E7D66"/>
          </a:solidFill>
          <a:ln w="12700">
            <a:solidFill>
              <a:srgbClr val="2E7D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9"/>
          <p:cNvSpPr/>
          <p:nvPr/>
        </p:nvSpPr>
        <p:spPr>
          <a:xfrm>
            <a:off x="3538800" y="1734240"/>
            <a:ext cx="2148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INPUTS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0"/>
          <p:cNvSpPr/>
          <p:nvPr/>
        </p:nvSpPr>
        <p:spPr>
          <a:xfrm>
            <a:off x="3538800" y="2072640"/>
            <a:ext cx="21484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4324A"/>
                </a:solidFill>
                <a:effectLst/>
                <a:uFillTx/>
                <a:latin typeface="Aptos"/>
              </a:rPr>
              <a:t>37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1"/>
          <p:cNvSpPr/>
          <p:nvPr/>
        </p:nvSpPr>
        <p:spPr>
          <a:xfrm>
            <a:off x="3538800" y="2593920"/>
            <a:ext cx="21484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2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variables in the original dataset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2"/>
          <p:cNvSpPr/>
          <p:nvPr/>
        </p:nvSpPr>
        <p:spPr>
          <a:xfrm>
            <a:off x="6080760" y="1569720"/>
            <a:ext cx="2514240" cy="15541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3"/>
          <p:cNvSpPr/>
          <p:nvPr/>
        </p:nvSpPr>
        <p:spPr>
          <a:xfrm>
            <a:off x="6080760" y="1569720"/>
            <a:ext cx="54360" cy="1554120"/>
          </a:xfrm>
          <a:prstGeom prst="rect">
            <a:avLst/>
          </a:prstGeom>
          <a:solidFill>
            <a:srgbClr val="C58A22"/>
          </a:solidFill>
          <a:ln w="12700">
            <a:solidFill>
              <a:srgbClr val="C58A2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4"/>
          <p:cNvSpPr/>
          <p:nvPr/>
        </p:nvSpPr>
        <p:spPr>
          <a:xfrm>
            <a:off x="6282000" y="1734240"/>
            <a:ext cx="2148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MODEL INPUT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5"/>
          <p:cNvSpPr/>
          <p:nvPr/>
        </p:nvSpPr>
        <p:spPr>
          <a:xfrm>
            <a:off x="6282000" y="2072640"/>
            <a:ext cx="21484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4324A"/>
                </a:solidFill>
                <a:effectLst/>
                <a:uFillTx/>
                <a:latin typeface="Aptos"/>
              </a:rPr>
              <a:t>50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6"/>
          <p:cNvSpPr/>
          <p:nvPr/>
        </p:nvSpPr>
        <p:spPr>
          <a:xfrm>
            <a:off x="6282000" y="2593920"/>
            <a:ext cx="21484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2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selected transformed features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7"/>
          <p:cNvSpPr/>
          <p:nvPr/>
        </p:nvSpPr>
        <p:spPr>
          <a:xfrm>
            <a:off x="8823960" y="1569720"/>
            <a:ext cx="2514240" cy="15541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8"/>
          <p:cNvSpPr/>
          <p:nvPr/>
        </p:nvSpPr>
        <p:spPr>
          <a:xfrm>
            <a:off x="8823960" y="1569720"/>
            <a:ext cx="54360" cy="155412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9"/>
          <p:cNvSpPr/>
          <p:nvPr/>
        </p:nvSpPr>
        <p:spPr>
          <a:xfrm>
            <a:off x="9025200" y="1734240"/>
            <a:ext cx="2148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VALIDATION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0"/>
          <p:cNvSpPr/>
          <p:nvPr/>
        </p:nvSpPr>
        <p:spPr>
          <a:xfrm>
            <a:off x="9025200" y="2072640"/>
            <a:ext cx="21484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4324A"/>
                </a:solidFill>
                <a:effectLst/>
                <a:uFillTx/>
                <a:latin typeface="Aptos"/>
              </a:rPr>
              <a:t>80 / 20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1"/>
          <p:cNvSpPr/>
          <p:nvPr/>
        </p:nvSpPr>
        <p:spPr>
          <a:xfrm>
            <a:off x="9025200" y="2593920"/>
            <a:ext cx="21484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stratified train–test split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2"/>
          <p:cNvSpPr/>
          <p:nvPr/>
        </p:nvSpPr>
        <p:spPr>
          <a:xfrm>
            <a:off x="369320" y="375760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 dirty="0">
                <a:solidFill>
                  <a:srgbClr val="14324A"/>
                </a:solidFill>
                <a:effectLst/>
                <a:uFillTx/>
                <a:latin typeface="Aptos"/>
              </a:rPr>
              <a:t>The strongest signals are operationally recognizable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23"/>
          <p:cNvSpPr/>
          <p:nvPr/>
        </p:nvSpPr>
        <p:spPr>
          <a:xfrm>
            <a:off x="369320" y="4241800"/>
            <a:ext cx="2968240" cy="475200"/>
          </a:xfrm>
          <a:prstGeom prst="roundRect">
            <a:avLst>
              <a:gd name="adj" fmla="val 16667"/>
            </a:avLst>
          </a:prstGeom>
          <a:solidFill>
            <a:srgbClr val="F4F8FA"/>
          </a:solidFill>
          <a:ln w="1270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4"/>
          <p:cNvSpPr/>
          <p:nvPr/>
        </p:nvSpPr>
        <p:spPr>
          <a:xfrm>
            <a:off x="471440" y="4241800"/>
            <a:ext cx="159984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1F2933"/>
                </a:solidFill>
                <a:effectLst/>
                <a:uFillTx/>
                <a:latin typeface="Aptos"/>
              </a:rPr>
              <a:t>Semester grades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25"/>
          <p:cNvSpPr/>
          <p:nvPr/>
        </p:nvSpPr>
        <p:spPr>
          <a:xfrm>
            <a:off x="2466160" y="4241800"/>
            <a:ext cx="7768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176B87"/>
                </a:solidFill>
                <a:effectLst/>
                <a:uFillTx/>
                <a:latin typeface="Aptos"/>
              </a:rPr>
              <a:t>Academic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6"/>
          <p:cNvSpPr/>
          <p:nvPr/>
        </p:nvSpPr>
        <p:spPr>
          <a:xfrm>
            <a:off x="3429000" y="4241800"/>
            <a:ext cx="3538400" cy="475200"/>
          </a:xfrm>
          <a:prstGeom prst="roundRect">
            <a:avLst>
              <a:gd name="adj" fmla="val 16667"/>
            </a:avLst>
          </a:prstGeom>
          <a:solidFill>
            <a:srgbClr val="F7FAFB"/>
          </a:solidFill>
          <a:ln w="1270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27"/>
          <p:cNvSpPr/>
          <p:nvPr/>
        </p:nvSpPr>
        <p:spPr>
          <a:xfrm>
            <a:off x="3591560" y="4241800"/>
            <a:ext cx="23770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1F2933"/>
                </a:solidFill>
                <a:effectLst/>
                <a:uFillTx/>
                <a:latin typeface="Aptos"/>
              </a:rPr>
              <a:t>Curricular units approved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8"/>
          <p:cNvSpPr/>
          <p:nvPr/>
        </p:nvSpPr>
        <p:spPr>
          <a:xfrm>
            <a:off x="5166360" y="4241800"/>
            <a:ext cx="1652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176B87"/>
                </a:solidFill>
                <a:effectLst/>
                <a:uFillTx/>
                <a:latin typeface="Aptos"/>
              </a:rPr>
              <a:t>Academic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29"/>
          <p:cNvSpPr/>
          <p:nvPr/>
        </p:nvSpPr>
        <p:spPr>
          <a:xfrm>
            <a:off x="369320" y="4900240"/>
            <a:ext cx="2968240" cy="475200"/>
          </a:xfrm>
          <a:prstGeom prst="roundRect">
            <a:avLst>
              <a:gd name="adj" fmla="val 16667"/>
            </a:avLst>
          </a:prstGeom>
          <a:solidFill>
            <a:srgbClr val="F4F8FA"/>
          </a:solidFill>
          <a:ln w="1270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30"/>
          <p:cNvSpPr/>
          <p:nvPr/>
        </p:nvSpPr>
        <p:spPr>
          <a:xfrm>
            <a:off x="445480" y="4900240"/>
            <a:ext cx="21175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1F2933"/>
                </a:solidFill>
                <a:effectLst/>
                <a:uFillTx/>
                <a:latin typeface="Aptos"/>
              </a:rPr>
              <a:t>Tuition fees up to date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31"/>
          <p:cNvSpPr/>
          <p:nvPr/>
        </p:nvSpPr>
        <p:spPr>
          <a:xfrm>
            <a:off x="2331720" y="4900240"/>
            <a:ext cx="9113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176B87"/>
                </a:solidFill>
                <a:effectLst/>
                <a:uFillTx/>
                <a:latin typeface="Aptos"/>
              </a:rPr>
              <a:t>Financial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32"/>
          <p:cNvSpPr/>
          <p:nvPr/>
        </p:nvSpPr>
        <p:spPr>
          <a:xfrm>
            <a:off x="3429000" y="4900240"/>
            <a:ext cx="3538400" cy="475200"/>
          </a:xfrm>
          <a:prstGeom prst="roundRect">
            <a:avLst>
              <a:gd name="adj" fmla="val 16667"/>
            </a:avLst>
          </a:prstGeom>
          <a:solidFill>
            <a:srgbClr val="F7FAFB"/>
          </a:solidFill>
          <a:ln w="1270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33"/>
          <p:cNvSpPr/>
          <p:nvPr/>
        </p:nvSpPr>
        <p:spPr>
          <a:xfrm>
            <a:off x="3611880" y="4900240"/>
            <a:ext cx="19812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1F2933"/>
                </a:solidFill>
                <a:effectLst/>
                <a:uFillTx/>
                <a:latin typeface="Aptos"/>
              </a:rPr>
              <a:t>Scholarship status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34"/>
          <p:cNvSpPr/>
          <p:nvPr/>
        </p:nvSpPr>
        <p:spPr>
          <a:xfrm>
            <a:off x="5166360" y="4900240"/>
            <a:ext cx="1652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176B87"/>
                </a:solidFill>
                <a:effectLst/>
                <a:uFillTx/>
                <a:latin typeface="Aptos"/>
              </a:rPr>
              <a:t>Financial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35"/>
          <p:cNvSpPr/>
          <p:nvPr/>
        </p:nvSpPr>
        <p:spPr>
          <a:xfrm>
            <a:off x="369320" y="5558680"/>
            <a:ext cx="2968240" cy="475200"/>
          </a:xfrm>
          <a:prstGeom prst="roundRect">
            <a:avLst>
              <a:gd name="adj" fmla="val 16667"/>
            </a:avLst>
          </a:prstGeom>
          <a:solidFill>
            <a:srgbClr val="F4F8FA"/>
          </a:solidFill>
          <a:ln w="1270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36"/>
          <p:cNvSpPr/>
          <p:nvPr/>
        </p:nvSpPr>
        <p:spPr>
          <a:xfrm>
            <a:off x="471440" y="5558680"/>
            <a:ext cx="190564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1F2933"/>
                </a:solidFill>
                <a:effectLst/>
                <a:uFillTx/>
                <a:latin typeface="Aptos"/>
              </a:rPr>
              <a:t>Admission grade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37"/>
          <p:cNvSpPr/>
          <p:nvPr/>
        </p:nvSpPr>
        <p:spPr>
          <a:xfrm>
            <a:off x="2331720" y="5558680"/>
            <a:ext cx="9113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176B87"/>
                </a:solidFill>
                <a:effectLst/>
                <a:uFillTx/>
                <a:latin typeface="Aptos"/>
              </a:rPr>
              <a:t>Admissions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38"/>
          <p:cNvSpPr/>
          <p:nvPr/>
        </p:nvSpPr>
        <p:spPr>
          <a:xfrm>
            <a:off x="3429000" y="5558680"/>
            <a:ext cx="3538400" cy="475200"/>
          </a:xfrm>
          <a:prstGeom prst="roundRect">
            <a:avLst>
              <a:gd name="adj" fmla="val 16667"/>
            </a:avLst>
          </a:prstGeom>
          <a:solidFill>
            <a:srgbClr val="F7FAFB"/>
          </a:solidFill>
          <a:ln w="1270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39"/>
          <p:cNvSpPr/>
          <p:nvPr/>
        </p:nvSpPr>
        <p:spPr>
          <a:xfrm>
            <a:off x="3611880" y="5558680"/>
            <a:ext cx="20754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1F2933"/>
                </a:solidFill>
                <a:effectLst/>
                <a:uFillTx/>
                <a:latin typeface="Aptos"/>
              </a:rPr>
              <a:t>Age at enrollment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40"/>
          <p:cNvSpPr/>
          <p:nvPr/>
        </p:nvSpPr>
        <p:spPr>
          <a:xfrm>
            <a:off x="5166360" y="5558680"/>
            <a:ext cx="1652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176B87"/>
                </a:solidFill>
                <a:effectLst/>
                <a:uFillTx/>
                <a:latin typeface="Aptos"/>
              </a:rPr>
              <a:t>Context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41"/>
          <p:cNvSpPr/>
          <p:nvPr/>
        </p:nvSpPr>
        <p:spPr>
          <a:xfrm>
            <a:off x="7337880" y="3508120"/>
            <a:ext cx="4567320" cy="125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0" u="none" strike="noStrike" dirty="0">
                <a:solidFill>
                  <a:srgbClr val="5B6770"/>
                </a:solidFill>
                <a:effectLst/>
                <a:uFillTx/>
                <a:latin typeface="Aptos"/>
              </a:rPr>
              <a:t>The dataset contains no missing values or duplicate records, reducing cleaning complexity.</a:t>
            </a:r>
            <a:endParaRPr lang="en-US" sz="2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42"/>
          <p:cNvSpPr/>
          <p:nvPr/>
        </p:nvSpPr>
        <p:spPr>
          <a:xfrm>
            <a:off x="7356240" y="4646800"/>
            <a:ext cx="4466440" cy="151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>
                <a:solidFill>
                  <a:srgbClr val="14324A"/>
                </a:solidFill>
                <a:effectLst/>
                <a:uFillTx/>
                <a:latin typeface="Aptos"/>
              </a:rPr>
              <a:t>Important caveat: many of the strongest predictors are first- and second-semester performance measures, which constrains how early the current model can trigger intervention.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1"/>
          <p:cNvSpPr>
            <a:spLocks noGrp="1"/>
          </p:cNvSpPr>
          <p:nvPr>
            <p:ph type="sldNum" idx="8"/>
          </p:nvPr>
        </p:nvSpPr>
        <p:spPr>
          <a:xfrm>
            <a:off x="11722680" y="6492240"/>
            <a:ext cx="182520" cy="145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C0025EF-5DE9-4E66-8B2A-84933CA79546}" type="slidenum">
              <a:rPr lang="en-US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rPr>
              <a:t>4</a:t>
            </a:fld>
            <a:endParaRPr lang="en-US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 0"/>
          <p:cNvSpPr/>
          <p:nvPr/>
        </p:nvSpPr>
        <p:spPr>
          <a:xfrm>
            <a:off x="594360" y="320040"/>
            <a:ext cx="4388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 spc="159">
                <a:solidFill>
                  <a:srgbClr val="176B87"/>
                </a:solidFill>
                <a:effectLst/>
                <a:uFillTx/>
                <a:latin typeface="Aptos"/>
              </a:rPr>
              <a:t>MODEL IMPLEMENTATION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"/>
          <p:cNvSpPr/>
          <p:nvPr/>
        </p:nvSpPr>
        <p:spPr>
          <a:xfrm>
            <a:off x="594360" y="59436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4324A"/>
                </a:solidFill>
                <a:effectLst/>
                <a:uFillTx/>
                <a:latin typeface="Aptos"/>
              </a:rPr>
              <a:t>Four approaches tested; one selected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2"/>
          <p:cNvSpPr/>
          <p:nvPr/>
        </p:nvSpPr>
        <p:spPr>
          <a:xfrm>
            <a:off x="731520" y="1798320"/>
            <a:ext cx="1005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Accuracy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3"/>
          <p:cNvSpPr/>
          <p:nvPr/>
        </p:nvSpPr>
        <p:spPr>
          <a:xfrm>
            <a:off x="731520" y="2136720"/>
            <a:ext cx="1005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Macro F1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4"/>
          <p:cNvSpPr/>
          <p:nvPr/>
        </p:nvSpPr>
        <p:spPr>
          <a:xfrm>
            <a:off x="1805940" y="1387200"/>
            <a:ext cx="19656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14324A"/>
                </a:solidFill>
                <a:effectLst/>
                <a:uFillTx/>
                <a:latin typeface="Aptos"/>
              </a:rPr>
              <a:t>Logistic Regression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5"/>
          <p:cNvSpPr/>
          <p:nvPr/>
        </p:nvSpPr>
        <p:spPr>
          <a:xfrm>
            <a:off x="2011680" y="1844040"/>
            <a:ext cx="1302120" cy="200880"/>
          </a:xfrm>
          <a:prstGeom prst="rect">
            <a:avLst/>
          </a:prstGeom>
          <a:solidFill>
            <a:srgbClr val="DDE8ED"/>
          </a:solidFill>
          <a:ln w="1270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6"/>
          <p:cNvSpPr/>
          <p:nvPr/>
        </p:nvSpPr>
        <p:spPr>
          <a:xfrm>
            <a:off x="3749040" y="17799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77%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7"/>
          <p:cNvSpPr/>
          <p:nvPr/>
        </p:nvSpPr>
        <p:spPr>
          <a:xfrm>
            <a:off x="2011680" y="2182440"/>
            <a:ext cx="1166760" cy="200880"/>
          </a:xfrm>
          <a:prstGeom prst="rect">
            <a:avLst/>
          </a:prstGeom>
          <a:solidFill>
            <a:srgbClr val="AFC4CE"/>
          </a:solidFill>
          <a:ln w="12700">
            <a:solidFill>
              <a:srgbClr val="AFC4C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8"/>
          <p:cNvSpPr/>
          <p:nvPr/>
        </p:nvSpPr>
        <p:spPr>
          <a:xfrm>
            <a:off x="3749040" y="21183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0.69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9"/>
          <p:cNvSpPr/>
          <p:nvPr/>
        </p:nvSpPr>
        <p:spPr>
          <a:xfrm>
            <a:off x="4000320" y="1353640"/>
            <a:ext cx="19656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14324A"/>
                </a:solidFill>
                <a:effectLst/>
                <a:uFillTx/>
                <a:latin typeface="Aptos"/>
              </a:rPr>
              <a:t>Decision Tree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0"/>
          <p:cNvSpPr/>
          <p:nvPr/>
        </p:nvSpPr>
        <p:spPr>
          <a:xfrm>
            <a:off x="4343400" y="1844040"/>
            <a:ext cx="1116000" cy="200880"/>
          </a:xfrm>
          <a:prstGeom prst="rect">
            <a:avLst/>
          </a:prstGeom>
          <a:solidFill>
            <a:srgbClr val="DDE8ED"/>
          </a:solidFill>
          <a:ln w="1270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1"/>
          <p:cNvSpPr/>
          <p:nvPr/>
        </p:nvSpPr>
        <p:spPr>
          <a:xfrm>
            <a:off x="6080760" y="17799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66%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2"/>
          <p:cNvSpPr/>
          <p:nvPr/>
        </p:nvSpPr>
        <p:spPr>
          <a:xfrm>
            <a:off x="4343400" y="2182440"/>
            <a:ext cx="1014480" cy="200880"/>
          </a:xfrm>
          <a:prstGeom prst="rect">
            <a:avLst/>
          </a:prstGeom>
          <a:solidFill>
            <a:srgbClr val="AFC4CE"/>
          </a:solidFill>
          <a:ln w="12700">
            <a:solidFill>
              <a:srgbClr val="AFC4C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3"/>
          <p:cNvSpPr/>
          <p:nvPr/>
        </p:nvSpPr>
        <p:spPr>
          <a:xfrm>
            <a:off x="6080760" y="21183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0.60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4"/>
          <p:cNvSpPr/>
          <p:nvPr/>
        </p:nvSpPr>
        <p:spPr>
          <a:xfrm>
            <a:off x="6332220" y="1355760"/>
            <a:ext cx="19656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176B87"/>
                </a:solidFill>
                <a:effectLst/>
                <a:uFillTx/>
                <a:latin typeface="Aptos"/>
              </a:rPr>
              <a:t>Random Forest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5"/>
          <p:cNvSpPr/>
          <p:nvPr/>
        </p:nvSpPr>
        <p:spPr>
          <a:xfrm>
            <a:off x="6675120" y="1844040"/>
            <a:ext cx="1302120" cy="20088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6"/>
          <p:cNvSpPr/>
          <p:nvPr/>
        </p:nvSpPr>
        <p:spPr>
          <a:xfrm>
            <a:off x="8412480" y="17799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77%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7"/>
          <p:cNvSpPr/>
          <p:nvPr/>
        </p:nvSpPr>
        <p:spPr>
          <a:xfrm>
            <a:off x="6675120" y="2182440"/>
            <a:ext cx="1183680" cy="200880"/>
          </a:xfrm>
          <a:prstGeom prst="rect">
            <a:avLst/>
          </a:prstGeom>
          <a:solidFill>
            <a:srgbClr val="64CCC5"/>
          </a:solidFill>
          <a:ln w="12700">
            <a:solidFill>
              <a:srgbClr val="64CC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8"/>
          <p:cNvSpPr/>
          <p:nvPr/>
        </p:nvSpPr>
        <p:spPr>
          <a:xfrm>
            <a:off x="8412480" y="21183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0.70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9"/>
          <p:cNvSpPr/>
          <p:nvPr/>
        </p:nvSpPr>
        <p:spPr>
          <a:xfrm>
            <a:off x="8405760" y="1336620"/>
            <a:ext cx="19656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 err="1">
                <a:solidFill>
                  <a:srgbClr val="14324A"/>
                </a:solidFill>
                <a:effectLst/>
                <a:uFillTx/>
                <a:latin typeface="Aptos"/>
              </a:rPr>
              <a:t>XGBoost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20"/>
          <p:cNvSpPr/>
          <p:nvPr/>
        </p:nvSpPr>
        <p:spPr>
          <a:xfrm>
            <a:off x="9006840" y="1844040"/>
            <a:ext cx="1285200" cy="200880"/>
          </a:xfrm>
          <a:prstGeom prst="rect">
            <a:avLst/>
          </a:prstGeom>
          <a:solidFill>
            <a:srgbClr val="DDE8ED"/>
          </a:solidFill>
          <a:ln w="1270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1"/>
          <p:cNvSpPr/>
          <p:nvPr/>
        </p:nvSpPr>
        <p:spPr>
          <a:xfrm>
            <a:off x="10744200" y="17799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76%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22"/>
          <p:cNvSpPr/>
          <p:nvPr/>
        </p:nvSpPr>
        <p:spPr>
          <a:xfrm>
            <a:off x="9006840" y="2182440"/>
            <a:ext cx="1166760" cy="200880"/>
          </a:xfrm>
          <a:prstGeom prst="rect">
            <a:avLst/>
          </a:prstGeom>
          <a:solidFill>
            <a:srgbClr val="AFC4CE"/>
          </a:solidFill>
          <a:ln w="12700">
            <a:solidFill>
              <a:srgbClr val="AFC4C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3"/>
          <p:cNvSpPr/>
          <p:nvPr/>
        </p:nvSpPr>
        <p:spPr>
          <a:xfrm>
            <a:off x="10744200" y="21183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0.69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24"/>
          <p:cNvSpPr/>
          <p:nvPr/>
        </p:nvSpPr>
        <p:spPr>
          <a:xfrm>
            <a:off x="594360" y="3030400"/>
            <a:ext cx="10972440" cy="1234080"/>
          </a:xfrm>
          <a:prstGeom prst="roundRect">
            <a:avLst>
              <a:gd name="adj" fmla="val 16667"/>
            </a:avLst>
          </a:prstGeom>
          <a:solidFill>
            <a:srgbClr val="EAF5F5"/>
          </a:solidFill>
          <a:ln w="12700">
            <a:solidFill>
              <a:srgbClr val="D0E8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25"/>
          <p:cNvSpPr/>
          <p:nvPr/>
        </p:nvSpPr>
        <p:spPr>
          <a:xfrm>
            <a:off x="1162520" y="3282040"/>
            <a:ext cx="37486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dirty="0">
                <a:solidFill>
                  <a:srgbClr val="176B87"/>
                </a:solidFill>
                <a:effectLst/>
                <a:uFillTx/>
                <a:latin typeface="Aptos"/>
              </a:rPr>
              <a:t>Selected: Random Forest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26"/>
          <p:cNvSpPr/>
          <p:nvPr/>
        </p:nvSpPr>
        <p:spPr>
          <a:xfrm>
            <a:off x="5029200" y="3377800"/>
            <a:ext cx="65376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>
                <a:solidFill>
                  <a:srgbClr val="14324A"/>
                </a:solidFill>
                <a:effectLst/>
                <a:uFillTx/>
                <a:latin typeface="Aptos"/>
              </a:rPr>
              <a:t>Best balance across the three outcomes, with strong overall performance and useful interpretability.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27"/>
          <p:cNvSpPr/>
          <p:nvPr/>
        </p:nvSpPr>
        <p:spPr>
          <a:xfrm>
            <a:off x="594360" y="4447360"/>
            <a:ext cx="2860040" cy="35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 dirty="0">
                <a:solidFill>
                  <a:srgbClr val="176B87"/>
                </a:solidFill>
                <a:effectLst/>
                <a:uFillTx/>
                <a:latin typeface="Aptos"/>
              </a:rPr>
              <a:t>Why macro F1 matters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8"/>
          <p:cNvSpPr/>
          <p:nvPr/>
        </p:nvSpPr>
        <p:spPr>
          <a:xfrm>
            <a:off x="594360" y="4800600"/>
            <a:ext cx="10606680" cy="1610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5B6770"/>
                </a:solidFill>
                <a:effectLst/>
                <a:uFillTx/>
                <a:latin typeface="Aptos"/>
              </a:rPr>
              <a:t>The classes are unevenly represented. A single overall accuracy number can hide weak performance in a smaller group, so the project evaluated class-level performance as well.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1"/>
          <p:cNvSpPr>
            <a:spLocks noGrp="1"/>
          </p:cNvSpPr>
          <p:nvPr>
            <p:ph type="sldNum" idx="9"/>
          </p:nvPr>
        </p:nvSpPr>
        <p:spPr>
          <a:xfrm>
            <a:off x="11722680" y="6492240"/>
            <a:ext cx="182520" cy="145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C674E5E-3470-40AB-A015-F7A463554EF7}" type="slidenum">
              <a:rPr lang="en-US" sz="700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rPr>
              <a:t>5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 0"/>
          <p:cNvSpPr/>
          <p:nvPr/>
        </p:nvSpPr>
        <p:spPr>
          <a:xfrm>
            <a:off x="594360" y="320040"/>
            <a:ext cx="4388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 spc="159">
                <a:solidFill>
                  <a:srgbClr val="176B87"/>
                </a:solidFill>
                <a:effectLst/>
                <a:uFillTx/>
                <a:latin typeface="Aptos"/>
              </a:rPr>
              <a:t>RESULTS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"/>
          <p:cNvSpPr/>
          <p:nvPr/>
        </p:nvSpPr>
        <p:spPr>
          <a:xfrm>
            <a:off x="594360" y="59436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4324A"/>
                </a:solidFill>
                <a:effectLst/>
                <a:uFillTx/>
                <a:latin typeface="Aptos"/>
              </a:rPr>
              <a:t>What the results mean for leaders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2"/>
          <p:cNvSpPr/>
          <p:nvPr/>
        </p:nvSpPr>
        <p:spPr>
          <a:xfrm>
            <a:off x="594360" y="1280160"/>
            <a:ext cx="3337200" cy="16455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3"/>
          <p:cNvSpPr/>
          <p:nvPr/>
        </p:nvSpPr>
        <p:spPr>
          <a:xfrm>
            <a:off x="594360" y="1280160"/>
            <a:ext cx="54360" cy="164556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4"/>
          <p:cNvSpPr/>
          <p:nvPr/>
        </p:nvSpPr>
        <p:spPr>
          <a:xfrm>
            <a:off x="795600" y="1444680"/>
            <a:ext cx="2971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RANDOM FOREST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5"/>
          <p:cNvSpPr/>
          <p:nvPr/>
        </p:nvSpPr>
        <p:spPr>
          <a:xfrm>
            <a:off x="795600" y="1783080"/>
            <a:ext cx="29714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4324A"/>
                </a:solidFill>
                <a:effectLst/>
                <a:uFillTx/>
                <a:latin typeface="Aptos"/>
              </a:rPr>
              <a:t>77%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6"/>
          <p:cNvSpPr/>
          <p:nvPr/>
        </p:nvSpPr>
        <p:spPr>
          <a:xfrm>
            <a:off x="795600" y="2304360"/>
            <a:ext cx="2971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overall test accuracy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7"/>
          <p:cNvSpPr/>
          <p:nvPr/>
        </p:nvSpPr>
        <p:spPr>
          <a:xfrm>
            <a:off x="4251960" y="1280160"/>
            <a:ext cx="3337200" cy="16455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8"/>
          <p:cNvSpPr/>
          <p:nvPr/>
        </p:nvSpPr>
        <p:spPr>
          <a:xfrm>
            <a:off x="4251960" y="1280160"/>
            <a:ext cx="54360" cy="1645560"/>
          </a:xfrm>
          <a:prstGeom prst="rect">
            <a:avLst/>
          </a:prstGeom>
          <a:solidFill>
            <a:srgbClr val="2E7D66"/>
          </a:solidFill>
          <a:ln w="12700">
            <a:solidFill>
              <a:srgbClr val="2E7D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9"/>
          <p:cNvSpPr/>
          <p:nvPr/>
        </p:nvSpPr>
        <p:spPr>
          <a:xfrm>
            <a:off x="4453200" y="1444680"/>
            <a:ext cx="2971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BALANCE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0"/>
          <p:cNvSpPr/>
          <p:nvPr/>
        </p:nvSpPr>
        <p:spPr>
          <a:xfrm>
            <a:off x="4453200" y="1783080"/>
            <a:ext cx="29714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4324A"/>
                </a:solidFill>
                <a:effectLst/>
                <a:uFillTx/>
                <a:latin typeface="Aptos"/>
              </a:rPr>
              <a:t>0.70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1"/>
          <p:cNvSpPr/>
          <p:nvPr/>
        </p:nvSpPr>
        <p:spPr>
          <a:xfrm>
            <a:off x="4453200" y="2304360"/>
            <a:ext cx="2971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macro F1 across all three outcomes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12"/>
          <p:cNvSpPr/>
          <p:nvPr/>
        </p:nvSpPr>
        <p:spPr>
          <a:xfrm>
            <a:off x="7909560" y="1280160"/>
            <a:ext cx="3337200" cy="16455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3"/>
          <p:cNvSpPr/>
          <p:nvPr/>
        </p:nvSpPr>
        <p:spPr>
          <a:xfrm>
            <a:off x="7909560" y="1280160"/>
            <a:ext cx="54360" cy="1645560"/>
          </a:xfrm>
          <a:prstGeom prst="rect">
            <a:avLst/>
          </a:prstGeom>
          <a:solidFill>
            <a:srgbClr val="C58A22"/>
          </a:solidFill>
          <a:ln w="12700">
            <a:solidFill>
              <a:srgbClr val="C58A2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4"/>
          <p:cNvSpPr/>
          <p:nvPr/>
        </p:nvSpPr>
        <p:spPr>
          <a:xfrm>
            <a:off x="8110800" y="1444680"/>
            <a:ext cx="2971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DROPOUT F1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5"/>
          <p:cNvSpPr/>
          <p:nvPr/>
        </p:nvSpPr>
        <p:spPr>
          <a:xfrm>
            <a:off x="8110800" y="1783080"/>
            <a:ext cx="29714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4324A"/>
                </a:solidFill>
                <a:effectLst/>
                <a:uFillTx/>
                <a:latin typeface="Aptos"/>
              </a:rPr>
              <a:t>0.78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6"/>
          <p:cNvSpPr/>
          <p:nvPr/>
        </p:nvSpPr>
        <p:spPr>
          <a:xfrm>
            <a:off x="8110800" y="2304360"/>
            <a:ext cx="2971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reasonably effective at identifying dropout outcomes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7"/>
          <p:cNvSpPr/>
          <p:nvPr/>
        </p:nvSpPr>
        <p:spPr>
          <a:xfrm>
            <a:off x="594360" y="342900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14324A"/>
                </a:solidFill>
                <a:effectLst/>
                <a:uFillTx/>
                <a:latin typeface="Aptos"/>
              </a:rPr>
              <a:t>Performance by outcome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8"/>
          <p:cNvSpPr/>
          <p:nvPr/>
        </p:nvSpPr>
        <p:spPr>
          <a:xfrm>
            <a:off x="594360" y="3931920"/>
            <a:ext cx="1188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Graduate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19"/>
          <p:cNvSpPr/>
          <p:nvPr/>
        </p:nvSpPr>
        <p:spPr>
          <a:xfrm>
            <a:off x="1874520" y="3977640"/>
            <a:ext cx="5829120" cy="228240"/>
          </a:xfrm>
          <a:prstGeom prst="rect">
            <a:avLst/>
          </a:prstGeom>
          <a:solidFill>
            <a:srgbClr val="2E7D66"/>
          </a:solidFill>
          <a:ln w="12700">
            <a:solidFill>
              <a:srgbClr val="2E7D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20"/>
          <p:cNvSpPr/>
          <p:nvPr/>
        </p:nvSpPr>
        <p:spPr>
          <a:xfrm>
            <a:off x="8915400" y="3931920"/>
            <a:ext cx="914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0.85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1"/>
          <p:cNvSpPr/>
          <p:nvPr/>
        </p:nvSpPr>
        <p:spPr>
          <a:xfrm>
            <a:off x="594360" y="4553640"/>
            <a:ext cx="1188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Dropout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22"/>
          <p:cNvSpPr/>
          <p:nvPr/>
        </p:nvSpPr>
        <p:spPr>
          <a:xfrm>
            <a:off x="1874520" y="4599360"/>
            <a:ext cx="5348880" cy="22824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23"/>
          <p:cNvSpPr/>
          <p:nvPr/>
        </p:nvSpPr>
        <p:spPr>
          <a:xfrm>
            <a:off x="8915400" y="4553640"/>
            <a:ext cx="914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0.78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4"/>
          <p:cNvSpPr/>
          <p:nvPr/>
        </p:nvSpPr>
        <p:spPr>
          <a:xfrm>
            <a:off x="594360" y="5175360"/>
            <a:ext cx="1188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Enrolled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25"/>
          <p:cNvSpPr/>
          <p:nvPr/>
        </p:nvSpPr>
        <p:spPr>
          <a:xfrm>
            <a:off x="1874520" y="5221080"/>
            <a:ext cx="3223080" cy="228240"/>
          </a:xfrm>
          <a:prstGeom prst="rect">
            <a:avLst/>
          </a:prstGeom>
          <a:solidFill>
            <a:srgbClr val="C58A22"/>
          </a:solidFill>
          <a:ln w="12700">
            <a:solidFill>
              <a:srgbClr val="C58A2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6"/>
          <p:cNvSpPr/>
          <p:nvPr/>
        </p:nvSpPr>
        <p:spPr>
          <a:xfrm>
            <a:off x="8915400" y="5175360"/>
            <a:ext cx="914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0.47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27"/>
          <p:cNvSpPr/>
          <p:nvPr/>
        </p:nvSpPr>
        <p:spPr>
          <a:xfrm>
            <a:off x="9692640" y="3794760"/>
            <a:ext cx="1828440" cy="1782720"/>
          </a:xfrm>
          <a:prstGeom prst="roundRect">
            <a:avLst>
              <a:gd name="adj" fmla="val 16667"/>
            </a:avLst>
          </a:prstGeom>
          <a:solidFill>
            <a:srgbClr val="FFF8EA"/>
          </a:solidFill>
          <a:ln w="12700">
            <a:solidFill>
              <a:srgbClr val="F0D8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8"/>
          <p:cNvSpPr/>
          <p:nvPr/>
        </p:nvSpPr>
        <p:spPr>
          <a:xfrm>
            <a:off x="9921240" y="400500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C58A22"/>
                </a:solidFill>
                <a:effectLst/>
                <a:uFillTx/>
                <a:latin typeface="Aptos"/>
              </a:rPr>
              <a:t>Key limitation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9"/>
          <p:cNvSpPr/>
          <p:nvPr/>
        </p:nvSpPr>
        <p:spPr>
          <a:xfrm>
            <a:off x="9893880" y="4389120"/>
            <a:ext cx="144432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25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“Enrolled” is harder to distinguish because its characteristics overlap with both eventual graduates and dropouts.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1"/>
          <p:cNvSpPr>
            <a:spLocks noGrp="1"/>
          </p:cNvSpPr>
          <p:nvPr>
            <p:ph type="sldNum" idx="10"/>
          </p:nvPr>
        </p:nvSpPr>
        <p:spPr>
          <a:xfrm>
            <a:off x="11722680" y="6492240"/>
            <a:ext cx="182520" cy="145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DDE1EA7-C3CD-4DEB-B083-2F511FB72645}" type="slidenum">
              <a:rPr lang="en-US" sz="700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rPr>
              <a:t>6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 0"/>
          <p:cNvSpPr/>
          <p:nvPr/>
        </p:nvSpPr>
        <p:spPr>
          <a:xfrm>
            <a:off x="594360" y="320040"/>
            <a:ext cx="4388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 spc="159">
                <a:solidFill>
                  <a:srgbClr val="176B87"/>
                </a:solidFill>
                <a:effectLst/>
                <a:uFillTx/>
                <a:latin typeface="Aptos"/>
              </a:rPr>
              <a:t>TRUST &amp; EXPLAINABILITY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"/>
          <p:cNvSpPr/>
          <p:nvPr/>
        </p:nvSpPr>
        <p:spPr>
          <a:xfrm>
            <a:off x="594360" y="59436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4324A"/>
                </a:solidFill>
                <a:effectLst/>
                <a:uFillTx/>
                <a:latin typeface="Aptos"/>
              </a:rPr>
              <a:t>The model is explainable—not a black box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2"/>
          <p:cNvSpPr/>
          <p:nvPr/>
        </p:nvSpPr>
        <p:spPr>
          <a:xfrm>
            <a:off x="594360" y="1234440"/>
            <a:ext cx="107895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Across feature importance, SHAP and local explanations, academic progression consistently emerged as the dominant signal.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3"/>
          <p:cNvSpPr/>
          <p:nvPr/>
        </p:nvSpPr>
        <p:spPr>
          <a:xfrm>
            <a:off x="594360" y="196596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2nd-semester grade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4"/>
          <p:cNvSpPr/>
          <p:nvPr/>
        </p:nvSpPr>
        <p:spPr>
          <a:xfrm>
            <a:off x="2880360" y="2002680"/>
            <a:ext cx="4023000" cy="21924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5"/>
          <p:cNvSpPr/>
          <p:nvPr/>
        </p:nvSpPr>
        <p:spPr>
          <a:xfrm>
            <a:off x="594360" y="247788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2nd-semester units approved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6"/>
          <p:cNvSpPr/>
          <p:nvPr/>
        </p:nvSpPr>
        <p:spPr>
          <a:xfrm>
            <a:off x="2880360" y="2514600"/>
            <a:ext cx="3942360" cy="21924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7"/>
          <p:cNvSpPr/>
          <p:nvPr/>
        </p:nvSpPr>
        <p:spPr>
          <a:xfrm>
            <a:off x="594360" y="299016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1st-semester units approved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8"/>
          <p:cNvSpPr/>
          <p:nvPr/>
        </p:nvSpPr>
        <p:spPr>
          <a:xfrm>
            <a:off x="2880360" y="3026520"/>
            <a:ext cx="3298680" cy="21924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9"/>
          <p:cNvSpPr/>
          <p:nvPr/>
        </p:nvSpPr>
        <p:spPr>
          <a:xfrm>
            <a:off x="594360" y="350208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1st-semester grade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10"/>
          <p:cNvSpPr/>
          <p:nvPr/>
        </p:nvSpPr>
        <p:spPr>
          <a:xfrm>
            <a:off x="2880360" y="3538800"/>
            <a:ext cx="2212560" cy="21924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1"/>
          <p:cNvSpPr/>
          <p:nvPr/>
        </p:nvSpPr>
        <p:spPr>
          <a:xfrm>
            <a:off x="594360" y="401436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Admission grade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2"/>
          <p:cNvSpPr/>
          <p:nvPr/>
        </p:nvSpPr>
        <p:spPr>
          <a:xfrm>
            <a:off x="2880360" y="4050720"/>
            <a:ext cx="1528560" cy="219240"/>
          </a:xfrm>
          <a:prstGeom prst="rect">
            <a:avLst/>
          </a:prstGeom>
          <a:solidFill>
            <a:srgbClr val="64CCC5"/>
          </a:solidFill>
          <a:ln w="12700">
            <a:solidFill>
              <a:srgbClr val="64CC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3"/>
          <p:cNvSpPr/>
          <p:nvPr/>
        </p:nvSpPr>
        <p:spPr>
          <a:xfrm>
            <a:off x="594360" y="452628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Tuition status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14"/>
          <p:cNvSpPr/>
          <p:nvPr/>
        </p:nvSpPr>
        <p:spPr>
          <a:xfrm>
            <a:off x="2880360" y="4563000"/>
            <a:ext cx="1287000" cy="219240"/>
          </a:xfrm>
          <a:prstGeom prst="rect">
            <a:avLst/>
          </a:prstGeom>
          <a:solidFill>
            <a:srgbClr val="64CCC5"/>
          </a:solidFill>
          <a:ln w="12700">
            <a:solidFill>
              <a:srgbClr val="64CC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15"/>
          <p:cNvSpPr/>
          <p:nvPr/>
        </p:nvSpPr>
        <p:spPr>
          <a:xfrm>
            <a:off x="7543800" y="1874520"/>
            <a:ext cx="3702960" cy="3245760"/>
          </a:xfrm>
          <a:prstGeom prst="roundRect">
            <a:avLst>
              <a:gd name="adj" fmla="val 16667"/>
            </a:avLst>
          </a:prstGeom>
          <a:solidFill>
            <a:srgbClr val="F4F8FA"/>
          </a:solidFill>
          <a:ln w="1270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6"/>
          <p:cNvSpPr/>
          <p:nvPr/>
        </p:nvSpPr>
        <p:spPr>
          <a:xfrm>
            <a:off x="7818120" y="2148840"/>
            <a:ext cx="3154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4324A"/>
                </a:solidFill>
                <a:effectLst/>
                <a:uFillTx/>
                <a:latin typeface="Aptos"/>
              </a:rPr>
              <a:t>Example individual explanations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7"/>
          <p:cNvSpPr/>
          <p:nvPr/>
        </p:nvSpPr>
        <p:spPr>
          <a:xfrm>
            <a:off x="7818120" y="2697480"/>
            <a:ext cx="959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B65353"/>
                </a:solidFill>
                <a:effectLst/>
                <a:uFillTx/>
                <a:latin typeface="Aptos"/>
              </a:rPr>
              <a:t>82%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8"/>
          <p:cNvSpPr/>
          <p:nvPr/>
        </p:nvSpPr>
        <p:spPr>
          <a:xfrm>
            <a:off x="8823960" y="2633400"/>
            <a:ext cx="201132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Dropout probability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Low approved units + weak grades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9"/>
          <p:cNvSpPr/>
          <p:nvPr/>
        </p:nvSpPr>
        <p:spPr>
          <a:xfrm>
            <a:off x="7818120" y="3520440"/>
            <a:ext cx="959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2E7D66"/>
                </a:solidFill>
                <a:effectLst/>
                <a:uFillTx/>
                <a:latin typeface="Aptos"/>
              </a:rPr>
              <a:t>88%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0"/>
          <p:cNvSpPr/>
          <p:nvPr/>
        </p:nvSpPr>
        <p:spPr>
          <a:xfrm>
            <a:off x="8823960" y="3456360"/>
            <a:ext cx="201132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Graduate probability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Stronger completion + grades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1"/>
          <p:cNvSpPr/>
          <p:nvPr/>
        </p:nvSpPr>
        <p:spPr>
          <a:xfrm>
            <a:off x="7818120" y="4343400"/>
            <a:ext cx="959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6B87"/>
                </a:solidFill>
                <a:effectLst/>
                <a:uFillTx/>
                <a:latin typeface="Aptos"/>
              </a:rPr>
              <a:t>90%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22"/>
          <p:cNvSpPr/>
          <p:nvPr/>
        </p:nvSpPr>
        <p:spPr>
          <a:xfrm>
            <a:off x="8823960" y="4279320"/>
            <a:ext cx="201132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Enrolled probability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Multiple signals acting together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23"/>
          <p:cNvSpPr/>
          <p:nvPr/>
        </p:nvSpPr>
        <p:spPr>
          <a:xfrm>
            <a:off x="594360" y="562356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These are representative cases used for explanation—not business impact estimates.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1"/>
          <p:cNvSpPr>
            <a:spLocks noGrp="1"/>
          </p:cNvSpPr>
          <p:nvPr>
            <p:ph type="sldNum" idx="11"/>
          </p:nvPr>
        </p:nvSpPr>
        <p:spPr>
          <a:xfrm>
            <a:off x="11722680" y="6492240"/>
            <a:ext cx="182520" cy="145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C521CB9-35FE-4D3C-94C5-1C90DDEC8A17}" type="slidenum">
              <a:rPr lang="en-US" sz="700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rPr>
              <a:t>7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ext 0"/>
          <p:cNvSpPr/>
          <p:nvPr/>
        </p:nvSpPr>
        <p:spPr>
          <a:xfrm>
            <a:off x="594360" y="320040"/>
            <a:ext cx="4388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 spc="159">
                <a:solidFill>
                  <a:srgbClr val="176B87"/>
                </a:solidFill>
                <a:effectLst/>
                <a:uFillTx/>
                <a:latin typeface="Aptos"/>
              </a:rPr>
              <a:t>OPERATING MODEL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"/>
          <p:cNvSpPr/>
          <p:nvPr/>
        </p:nvSpPr>
        <p:spPr>
          <a:xfrm>
            <a:off x="594360" y="59436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4324A"/>
                </a:solidFill>
                <a:effectLst/>
                <a:uFillTx/>
                <a:latin typeface="Aptos"/>
              </a:rPr>
              <a:t>Deployment: turn a prediction into a managed workflow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2"/>
          <p:cNvSpPr/>
          <p:nvPr/>
        </p:nvSpPr>
        <p:spPr>
          <a:xfrm>
            <a:off x="594360" y="1508760"/>
            <a:ext cx="1965600" cy="3245760"/>
          </a:xfrm>
          <a:prstGeom prst="roundRect">
            <a:avLst>
              <a:gd name="adj" fmla="val 3721"/>
            </a:avLst>
          </a:prstGeom>
          <a:solidFill>
            <a:srgbClr val="F4F8FA"/>
          </a:solidFill>
          <a:ln w="1270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3"/>
          <p:cNvSpPr/>
          <p:nvPr/>
        </p:nvSpPr>
        <p:spPr>
          <a:xfrm>
            <a:off x="740520" y="1673280"/>
            <a:ext cx="383760" cy="383760"/>
          </a:xfrm>
          <a:prstGeom prst="ellipse">
            <a:avLst/>
          </a:prstGeom>
          <a:solidFill>
            <a:srgbClr val="176B87"/>
          </a:solidFill>
          <a:ln w="12700">
            <a:solidFill>
              <a:srgbClr val="176B8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4"/>
          <p:cNvSpPr/>
          <p:nvPr/>
        </p:nvSpPr>
        <p:spPr>
          <a:xfrm>
            <a:off x="740520" y="16732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5"/>
          <p:cNvSpPr/>
          <p:nvPr/>
        </p:nvSpPr>
        <p:spPr>
          <a:xfrm>
            <a:off x="1280160" y="1910880"/>
            <a:ext cx="1188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dirty="0">
                <a:solidFill>
                  <a:srgbClr val="14324A"/>
                </a:solidFill>
                <a:effectLst/>
                <a:uFillTx/>
                <a:latin typeface="Aptos"/>
              </a:rPr>
              <a:t>Refresh data</a:t>
            </a:r>
            <a:endParaRPr lang="en-US" sz="2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6"/>
          <p:cNvSpPr/>
          <p:nvPr/>
        </p:nvSpPr>
        <p:spPr>
          <a:xfrm>
            <a:off x="740520" y="2869840"/>
            <a:ext cx="1610000" cy="2011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5B6770"/>
                </a:solidFill>
                <a:effectLst/>
                <a:uFillTx/>
                <a:latin typeface="Aptos"/>
              </a:rPr>
              <a:t>Pull approved student indicators on a defined cadence.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7"/>
          <p:cNvSpPr/>
          <p:nvPr/>
        </p:nvSpPr>
        <p:spPr>
          <a:xfrm>
            <a:off x="2587680" y="2743200"/>
            <a:ext cx="228240" cy="456840"/>
          </a:xfrm>
          <a:prstGeom prst="chevron">
            <a:avLst>
              <a:gd name="adj" fmla="val 50000"/>
            </a:avLst>
          </a:prstGeom>
          <a:solidFill>
            <a:srgbClr val="64CCC5"/>
          </a:solidFill>
          <a:ln w="12700">
            <a:solidFill>
              <a:srgbClr val="64CC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8"/>
          <p:cNvSpPr/>
          <p:nvPr/>
        </p:nvSpPr>
        <p:spPr>
          <a:xfrm>
            <a:off x="2862000" y="1508760"/>
            <a:ext cx="1965600" cy="3245760"/>
          </a:xfrm>
          <a:prstGeom prst="roundRect">
            <a:avLst>
              <a:gd name="adj" fmla="val 3721"/>
            </a:avLst>
          </a:prstGeom>
          <a:solidFill>
            <a:srgbClr val="F4F8FA"/>
          </a:solidFill>
          <a:ln w="1270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9"/>
          <p:cNvSpPr/>
          <p:nvPr/>
        </p:nvSpPr>
        <p:spPr>
          <a:xfrm>
            <a:off x="3008520" y="1673280"/>
            <a:ext cx="383760" cy="383760"/>
          </a:xfrm>
          <a:prstGeom prst="ellipse">
            <a:avLst/>
          </a:prstGeom>
          <a:solidFill>
            <a:srgbClr val="176B87"/>
          </a:solidFill>
          <a:ln w="12700">
            <a:solidFill>
              <a:srgbClr val="176B8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0"/>
          <p:cNvSpPr/>
          <p:nvPr/>
        </p:nvSpPr>
        <p:spPr>
          <a:xfrm>
            <a:off x="3008520" y="16732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1"/>
          <p:cNvSpPr/>
          <p:nvPr/>
        </p:nvSpPr>
        <p:spPr>
          <a:xfrm>
            <a:off x="3538440" y="1873000"/>
            <a:ext cx="1188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dirty="0">
                <a:solidFill>
                  <a:srgbClr val="14324A"/>
                </a:solidFill>
                <a:effectLst/>
                <a:uFillTx/>
                <a:latin typeface="Aptos"/>
              </a:rPr>
              <a:t>Score &amp; explain</a:t>
            </a:r>
            <a:endParaRPr lang="en-US" sz="2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2"/>
          <p:cNvSpPr/>
          <p:nvPr/>
        </p:nvSpPr>
        <p:spPr>
          <a:xfrm>
            <a:off x="2971440" y="2807280"/>
            <a:ext cx="1764720" cy="265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5B6770"/>
                </a:solidFill>
                <a:effectLst/>
                <a:uFillTx/>
                <a:latin typeface="Aptos"/>
              </a:rPr>
              <a:t>Generate risk probabilities and the top contributing factors.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13"/>
          <p:cNvSpPr/>
          <p:nvPr/>
        </p:nvSpPr>
        <p:spPr>
          <a:xfrm>
            <a:off x="4855320" y="2743200"/>
            <a:ext cx="228240" cy="456840"/>
          </a:xfrm>
          <a:prstGeom prst="chevron">
            <a:avLst>
              <a:gd name="adj" fmla="val 50000"/>
            </a:avLst>
          </a:prstGeom>
          <a:solidFill>
            <a:srgbClr val="64CCC5"/>
          </a:solidFill>
          <a:ln w="12700">
            <a:solidFill>
              <a:srgbClr val="64CC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14"/>
          <p:cNvSpPr/>
          <p:nvPr/>
        </p:nvSpPr>
        <p:spPr>
          <a:xfrm>
            <a:off x="5129640" y="1508760"/>
            <a:ext cx="1965600" cy="3245760"/>
          </a:xfrm>
          <a:prstGeom prst="roundRect">
            <a:avLst>
              <a:gd name="adj" fmla="val 3721"/>
            </a:avLst>
          </a:prstGeom>
          <a:solidFill>
            <a:srgbClr val="F4F8FA"/>
          </a:solidFill>
          <a:ln w="1270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15"/>
          <p:cNvSpPr/>
          <p:nvPr/>
        </p:nvSpPr>
        <p:spPr>
          <a:xfrm>
            <a:off x="5276160" y="1673280"/>
            <a:ext cx="383760" cy="383760"/>
          </a:xfrm>
          <a:prstGeom prst="ellipse">
            <a:avLst/>
          </a:prstGeom>
          <a:solidFill>
            <a:srgbClr val="176B87"/>
          </a:solidFill>
          <a:ln w="12700">
            <a:solidFill>
              <a:srgbClr val="176B8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6"/>
          <p:cNvSpPr/>
          <p:nvPr/>
        </p:nvSpPr>
        <p:spPr>
          <a:xfrm>
            <a:off x="5276160" y="16732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7"/>
          <p:cNvSpPr/>
          <p:nvPr/>
        </p:nvSpPr>
        <p:spPr>
          <a:xfrm>
            <a:off x="5806080" y="1910880"/>
            <a:ext cx="1188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dirty="0">
                <a:solidFill>
                  <a:srgbClr val="14324A"/>
                </a:solidFill>
                <a:effectLst/>
                <a:uFillTx/>
                <a:latin typeface="Aptos"/>
              </a:rPr>
              <a:t>Human review</a:t>
            </a:r>
            <a:endParaRPr lang="en-US" sz="2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8"/>
          <p:cNvSpPr/>
          <p:nvPr/>
        </p:nvSpPr>
        <p:spPr>
          <a:xfrm>
            <a:off x="5289840" y="2830320"/>
            <a:ext cx="1810440" cy="265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5B6770"/>
                </a:solidFill>
                <a:effectLst/>
                <a:uFillTx/>
                <a:latin typeface="Aptos"/>
              </a:rPr>
              <a:t>Advisor validates context; no automatic adverse action.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19"/>
          <p:cNvSpPr/>
          <p:nvPr/>
        </p:nvSpPr>
        <p:spPr>
          <a:xfrm>
            <a:off x="7123320" y="2743200"/>
            <a:ext cx="228240" cy="456840"/>
          </a:xfrm>
          <a:prstGeom prst="chevron">
            <a:avLst>
              <a:gd name="adj" fmla="val 50000"/>
            </a:avLst>
          </a:prstGeom>
          <a:solidFill>
            <a:srgbClr val="64CCC5"/>
          </a:solidFill>
          <a:ln w="12700">
            <a:solidFill>
              <a:srgbClr val="64CC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20"/>
          <p:cNvSpPr/>
          <p:nvPr/>
        </p:nvSpPr>
        <p:spPr>
          <a:xfrm>
            <a:off x="7397640" y="1508760"/>
            <a:ext cx="1965600" cy="3245760"/>
          </a:xfrm>
          <a:prstGeom prst="roundRect">
            <a:avLst>
              <a:gd name="adj" fmla="val 3721"/>
            </a:avLst>
          </a:prstGeom>
          <a:solidFill>
            <a:srgbClr val="F4F8FA"/>
          </a:solidFill>
          <a:ln w="1270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21"/>
          <p:cNvSpPr/>
          <p:nvPr/>
        </p:nvSpPr>
        <p:spPr>
          <a:xfrm>
            <a:off x="7543800" y="1673280"/>
            <a:ext cx="383760" cy="383760"/>
          </a:xfrm>
          <a:prstGeom prst="ellipse">
            <a:avLst/>
          </a:prstGeom>
          <a:solidFill>
            <a:srgbClr val="176B87"/>
          </a:solidFill>
          <a:ln w="12700">
            <a:solidFill>
              <a:srgbClr val="176B8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22"/>
          <p:cNvSpPr/>
          <p:nvPr/>
        </p:nvSpPr>
        <p:spPr>
          <a:xfrm>
            <a:off x="7543800" y="16732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23"/>
          <p:cNvSpPr/>
          <p:nvPr/>
        </p:nvSpPr>
        <p:spPr>
          <a:xfrm>
            <a:off x="7975960" y="1749240"/>
            <a:ext cx="1471680" cy="26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 dirty="0">
                <a:solidFill>
                  <a:srgbClr val="14324A"/>
                </a:solidFill>
                <a:effectLst/>
                <a:uFillTx/>
                <a:latin typeface="Aptos"/>
              </a:rPr>
              <a:t>Intervene</a:t>
            </a:r>
            <a:endParaRPr lang="en-US" sz="2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24"/>
          <p:cNvSpPr/>
          <p:nvPr/>
        </p:nvSpPr>
        <p:spPr>
          <a:xfrm>
            <a:off x="7475580" y="2841840"/>
            <a:ext cx="1764360" cy="265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5B6770"/>
                </a:solidFill>
                <a:effectLst/>
                <a:uFillTx/>
                <a:latin typeface="Aptos"/>
              </a:rPr>
              <a:t>Assign tutoring, mentoring, counseling or financial support.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25"/>
          <p:cNvSpPr/>
          <p:nvPr/>
        </p:nvSpPr>
        <p:spPr>
          <a:xfrm>
            <a:off x="9390960" y="2743200"/>
            <a:ext cx="228240" cy="456840"/>
          </a:xfrm>
          <a:prstGeom prst="chevron">
            <a:avLst>
              <a:gd name="adj" fmla="val 50000"/>
            </a:avLst>
          </a:prstGeom>
          <a:solidFill>
            <a:srgbClr val="64CCC5"/>
          </a:solidFill>
          <a:ln w="12700">
            <a:solidFill>
              <a:srgbClr val="64CC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26"/>
          <p:cNvSpPr/>
          <p:nvPr/>
        </p:nvSpPr>
        <p:spPr>
          <a:xfrm>
            <a:off x="9665280" y="1508760"/>
            <a:ext cx="1965600" cy="3245760"/>
          </a:xfrm>
          <a:prstGeom prst="roundRect">
            <a:avLst>
              <a:gd name="adj" fmla="val 3721"/>
            </a:avLst>
          </a:prstGeom>
          <a:solidFill>
            <a:srgbClr val="F4F8FA"/>
          </a:solidFill>
          <a:ln w="1270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27"/>
          <p:cNvSpPr/>
          <p:nvPr/>
        </p:nvSpPr>
        <p:spPr>
          <a:xfrm>
            <a:off x="9811440" y="1673280"/>
            <a:ext cx="383760" cy="383760"/>
          </a:xfrm>
          <a:prstGeom prst="ellipse">
            <a:avLst/>
          </a:prstGeom>
          <a:solidFill>
            <a:srgbClr val="176B87"/>
          </a:solidFill>
          <a:ln w="12700">
            <a:solidFill>
              <a:srgbClr val="176B8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28"/>
          <p:cNvSpPr/>
          <p:nvPr/>
        </p:nvSpPr>
        <p:spPr>
          <a:xfrm>
            <a:off x="9811440" y="16732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29"/>
          <p:cNvSpPr/>
          <p:nvPr/>
        </p:nvSpPr>
        <p:spPr>
          <a:xfrm>
            <a:off x="10260880" y="1773120"/>
            <a:ext cx="1292280" cy="22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dirty="0">
                <a:solidFill>
                  <a:srgbClr val="14324A"/>
                </a:solidFill>
                <a:effectLst/>
                <a:uFillTx/>
                <a:latin typeface="Aptos"/>
              </a:rPr>
              <a:t>Measure</a:t>
            </a:r>
            <a:endParaRPr lang="en-US" sz="2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30"/>
          <p:cNvSpPr/>
          <p:nvPr/>
        </p:nvSpPr>
        <p:spPr>
          <a:xfrm>
            <a:off x="9825480" y="2862800"/>
            <a:ext cx="1755180" cy="265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5B6770"/>
                </a:solidFill>
                <a:effectLst/>
                <a:uFillTx/>
                <a:latin typeface="Aptos"/>
              </a:rPr>
              <a:t>Track intervention, retention and outcome; feed learning back.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31"/>
          <p:cNvSpPr/>
          <p:nvPr/>
        </p:nvSpPr>
        <p:spPr>
          <a:xfrm>
            <a:off x="594360" y="516636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6B87"/>
                </a:solidFill>
                <a:effectLst/>
                <a:uFillTx/>
                <a:latin typeface="Aptos"/>
              </a:rPr>
              <a:t>Recommended deployment posture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32"/>
          <p:cNvSpPr/>
          <p:nvPr/>
        </p:nvSpPr>
        <p:spPr>
          <a:xfrm>
            <a:off x="594360" y="5504760"/>
            <a:ext cx="10789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 dirty="0">
                <a:solidFill>
                  <a:srgbClr val="14324A"/>
                </a:solidFill>
                <a:effectLst/>
                <a:uFillTx/>
                <a:latin typeface="Aptos"/>
              </a:rPr>
              <a:t>Pilot first → validate on local institutional data → integrate into student-support processes → retrain and audit as cohorts and policies change.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1"/>
          <p:cNvSpPr>
            <a:spLocks noGrp="1"/>
          </p:cNvSpPr>
          <p:nvPr>
            <p:ph type="sldNum" idx="12"/>
          </p:nvPr>
        </p:nvSpPr>
        <p:spPr>
          <a:xfrm>
            <a:off x="11722680" y="6492240"/>
            <a:ext cx="182520" cy="145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D41D561-FC82-4B97-BDAB-ACDA48DA4722}" type="slidenum">
              <a:rPr lang="en-US" sz="700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rPr>
              <a:t>8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Text 0"/>
          <p:cNvSpPr/>
          <p:nvPr/>
        </p:nvSpPr>
        <p:spPr>
          <a:xfrm>
            <a:off x="594360" y="320040"/>
            <a:ext cx="4388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 spc="159">
                <a:solidFill>
                  <a:srgbClr val="176B87"/>
                </a:solidFill>
                <a:effectLst/>
                <a:uFillTx/>
                <a:latin typeface="Aptos"/>
              </a:rPr>
              <a:t>VALUE REALIZATION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"/>
          <p:cNvSpPr/>
          <p:nvPr/>
        </p:nvSpPr>
        <p:spPr>
          <a:xfrm>
            <a:off x="594360" y="59436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4324A"/>
                </a:solidFill>
                <a:effectLst/>
                <a:uFillTx/>
                <a:latin typeface="Aptos"/>
              </a:rPr>
              <a:t>Business KPIs: measure impact beyond model accuracy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2"/>
          <p:cNvSpPr/>
          <p:nvPr/>
        </p:nvSpPr>
        <p:spPr>
          <a:xfrm>
            <a:off x="594360" y="1143000"/>
            <a:ext cx="10881000" cy="621360"/>
          </a:xfrm>
          <a:prstGeom prst="roundRect">
            <a:avLst>
              <a:gd name="adj" fmla="val 16667"/>
            </a:avLst>
          </a:prstGeom>
          <a:solidFill>
            <a:srgbClr val="F4F8FA"/>
          </a:solidFill>
          <a:ln w="1270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3"/>
          <p:cNvSpPr/>
          <p:nvPr/>
        </p:nvSpPr>
        <p:spPr>
          <a:xfrm>
            <a:off x="822960" y="1143000"/>
            <a:ext cx="196560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4324A"/>
                </a:solidFill>
                <a:effectLst/>
                <a:uFillTx/>
                <a:latin typeface="Aptos"/>
              </a:rPr>
              <a:t>Retention uplift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4"/>
          <p:cNvSpPr/>
          <p:nvPr/>
        </p:nvSpPr>
        <p:spPr>
          <a:xfrm>
            <a:off x="2788920" y="1143000"/>
            <a:ext cx="621756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Δ retention rate among eligible / supported students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5"/>
          <p:cNvSpPr/>
          <p:nvPr/>
        </p:nvSpPr>
        <p:spPr>
          <a:xfrm>
            <a:off x="9372600" y="1298520"/>
            <a:ext cx="1782720" cy="310680"/>
          </a:xfrm>
          <a:prstGeom prst="roundRect">
            <a:avLst>
              <a:gd name="adj" fmla="val 44118"/>
            </a:avLst>
          </a:prstGeom>
          <a:solidFill>
            <a:srgbClr val="176B87"/>
          </a:solidFill>
          <a:ln w="12700">
            <a:solidFill>
              <a:srgbClr val="176B8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6"/>
          <p:cNvSpPr/>
          <p:nvPr/>
        </p:nvSpPr>
        <p:spPr>
          <a:xfrm>
            <a:off x="9372600" y="1298520"/>
            <a:ext cx="17827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PRIMARY OUTCOME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7"/>
          <p:cNvSpPr/>
          <p:nvPr/>
        </p:nvSpPr>
        <p:spPr>
          <a:xfrm>
            <a:off x="594360" y="1876480"/>
            <a:ext cx="10881000" cy="621360"/>
          </a:xfrm>
          <a:prstGeom prst="roundRect">
            <a:avLst>
              <a:gd name="adj" fmla="val 16667"/>
            </a:avLst>
          </a:prstGeom>
          <a:solidFill>
            <a:srgbClr val="F8FAFB"/>
          </a:solidFill>
          <a:ln w="1270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8"/>
          <p:cNvSpPr/>
          <p:nvPr/>
        </p:nvSpPr>
        <p:spPr>
          <a:xfrm>
            <a:off x="822960" y="1876480"/>
            <a:ext cx="196560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4324A"/>
                </a:solidFill>
                <a:effectLst/>
                <a:uFillTx/>
                <a:latin typeface="Aptos"/>
              </a:rPr>
              <a:t>Intervention effectiveness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9"/>
          <p:cNvSpPr/>
          <p:nvPr/>
        </p:nvSpPr>
        <p:spPr>
          <a:xfrm>
            <a:off x="2788920" y="1876480"/>
            <a:ext cx="621756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% of flagged students receiving support + outcome improvement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10"/>
          <p:cNvSpPr/>
          <p:nvPr/>
        </p:nvSpPr>
        <p:spPr>
          <a:xfrm>
            <a:off x="9372600" y="2032000"/>
            <a:ext cx="1782720" cy="310680"/>
          </a:xfrm>
          <a:prstGeom prst="roundRect">
            <a:avLst>
              <a:gd name="adj" fmla="val 44118"/>
            </a:avLst>
          </a:prstGeom>
          <a:solidFill>
            <a:srgbClr val="176B87"/>
          </a:solidFill>
          <a:ln w="12700">
            <a:solidFill>
              <a:srgbClr val="176B8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1"/>
          <p:cNvSpPr/>
          <p:nvPr/>
        </p:nvSpPr>
        <p:spPr>
          <a:xfrm>
            <a:off x="9372600" y="2032000"/>
            <a:ext cx="17827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LEADING INDICATOR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12"/>
          <p:cNvSpPr/>
          <p:nvPr/>
        </p:nvSpPr>
        <p:spPr>
          <a:xfrm>
            <a:off x="594360" y="2609960"/>
            <a:ext cx="10881000" cy="621360"/>
          </a:xfrm>
          <a:prstGeom prst="roundRect">
            <a:avLst>
              <a:gd name="adj" fmla="val 16667"/>
            </a:avLst>
          </a:prstGeom>
          <a:solidFill>
            <a:srgbClr val="F4F8FA"/>
          </a:solidFill>
          <a:ln w="1270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3"/>
          <p:cNvSpPr/>
          <p:nvPr/>
        </p:nvSpPr>
        <p:spPr>
          <a:xfrm>
            <a:off x="822960" y="2609960"/>
            <a:ext cx="196560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4324A"/>
                </a:solidFill>
                <a:effectLst/>
                <a:uFillTx/>
                <a:latin typeface="Aptos"/>
              </a:rPr>
              <a:t>Graduation uplift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4"/>
          <p:cNvSpPr/>
          <p:nvPr/>
        </p:nvSpPr>
        <p:spPr>
          <a:xfrm>
            <a:off x="2788920" y="2609960"/>
            <a:ext cx="621756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Δ graduation / academic success rate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15"/>
          <p:cNvSpPr/>
          <p:nvPr/>
        </p:nvSpPr>
        <p:spPr>
          <a:xfrm>
            <a:off x="9372600" y="2765480"/>
            <a:ext cx="1782720" cy="310680"/>
          </a:xfrm>
          <a:prstGeom prst="roundRect">
            <a:avLst>
              <a:gd name="adj" fmla="val 44118"/>
            </a:avLst>
          </a:prstGeom>
          <a:solidFill>
            <a:srgbClr val="176B87"/>
          </a:solidFill>
          <a:ln w="12700">
            <a:solidFill>
              <a:srgbClr val="176B8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6"/>
          <p:cNvSpPr/>
          <p:nvPr/>
        </p:nvSpPr>
        <p:spPr>
          <a:xfrm>
            <a:off x="9372600" y="2765480"/>
            <a:ext cx="17827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DOWNSTREAM OUTCOME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17"/>
          <p:cNvSpPr/>
          <p:nvPr/>
        </p:nvSpPr>
        <p:spPr>
          <a:xfrm>
            <a:off x="594360" y="3333640"/>
            <a:ext cx="10881000" cy="621360"/>
          </a:xfrm>
          <a:prstGeom prst="roundRect">
            <a:avLst>
              <a:gd name="adj" fmla="val 16667"/>
            </a:avLst>
          </a:prstGeom>
          <a:solidFill>
            <a:srgbClr val="F8FAFB"/>
          </a:solidFill>
          <a:ln w="1270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8"/>
          <p:cNvSpPr/>
          <p:nvPr/>
        </p:nvSpPr>
        <p:spPr>
          <a:xfrm>
            <a:off x="822960" y="3333640"/>
            <a:ext cx="196560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4324A"/>
                </a:solidFill>
                <a:effectLst/>
                <a:uFillTx/>
                <a:latin typeface="Aptos"/>
              </a:rPr>
              <a:t>Resource efficiency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9"/>
          <p:cNvSpPr/>
          <p:nvPr/>
        </p:nvSpPr>
        <p:spPr>
          <a:xfrm>
            <a:off x="2788920" y="3333640"/>
            <a:ext cx="621756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Support hours or spend per successful intervention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20"/>
          <p:cNvSpPr/>
          <p:nvPr/>
        </p:nvSpPr>
        <p:spPr>
          <a:xfrm>
            <a:off x="9372600" y="3488800"/>
            <a:ext cx="1782720" cy="310680"/>
          </a:xfrm>
          <a:prstGeom prst="roundRect">
            <a:avLst>
              <a:gd name="adj" fmla="val 44118"/>
            </a:avLst>
          </a:prstGeom>
          <a:solidFill>
            <a:srgbClr val="176B87"/>
          </a:solidFill>
          <a:ln w="12700">
            <a:solidFill>
              <a:srgbClr val="176B8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21"/>
          <p:cNvSpPr/>
          <p:nvPr/>
        </p:nvSpPr>
        <p:spPr>
          <a:xfrm>
            <a:off x="9372600" y="3488800"/>
            <a:ext cx="17827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EFFICIENCY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22"/>
          <p:cNvSpPr/>
          <p:nvPr/>
        </p:nvSpPr>
        <p:spPr>
          <a:xfrm>
            <a:off x="594360" y="4051880"/>
            <a:ext cx="10881000" cy="621360"/>
          </a:xfrm>
          <a:prstGeom prst="roundRect">
            <a:avLst>
              <a:gd name="adj" fmla="val 16667"/>
            </a:avLst>
          </a:prstGeom>
          <a:solidFill>
            <a:srgbClr val="F4F8FA"/>
          </a:solidFill>
          <a:ln w="1270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23"/>
          <p:cNvSpPr/>
          <p:nvPr/>
        </p:nvSpPr>
        <p:spPr>
          <a:xfrm>
            <a:off x="822960" y="4051880"/>
            <a:ext cx="196560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4324A"/>
                </a:solidFill>
                <a:effectLst/>
                <a:uFillTx/>
                <a:latin typeface="Aptos"/>
              </a:rPr>
              <a:t>Cost avoided / value protected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24"/>
          <p:cNvSpPr/>
          <p:nvPr/>
        </p:nvSpPr>
        <p:spPr>
          <a:xfrm>
            <a:off x="2788920" y="4051880"/>
            <a:ext cx="621756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Retained tuition or avoided replacement/recruitment cost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25"/>
          <p:cNvSpPr/>
          <p:nvPr/>
        </p:nvSpPr>
        <p:spPr>
          <a:xfrm>
            <a:off x="9372600" y="4207400"/>
            <a:ext cx="1782720" cy="310680"/>
          </a:xfrm>
          <a:prstGeom prst="roundRect">
            <a:avLst>
              <a:gd name="adj" fmla="val 44118"/>
            </a:avLst>
          </a:prstGeom>
          <a:solidFill>
            <a:srgbClr val="C58A22"/>
          </a:solidFill>
          <a:ln w="12700">
            <a:solidFill>
              <a:srgbClr val="C58A2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26"/>
          <p:cNvSpPr/>
          <p:nvPr/>
        </p:nvSpPr>
        <p:spPr>
          <a:xfrm>
            <a:off x="9372600" y="4207400"/>
            <a:ext cx="17827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FINANCIAL PROXY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27"/>
          <p:cNvSpPr/>
          <p:nvPr/>
        </p:nvSpPr>
        <p:spPr>
          <a:xfrm>
            <a:off x="594360" y="5938920"/>
            <a:ext cx="10881000" cy="502560"/>
          </a:xfrm>
          <a:prstGeom prst="roundRect">
            <a:avLst>
              <a:gd name="adj" fmla="val 16667"/>
            </a:avLst>
          </a:prstGeom>
          <a:solidFill>
            <a:srgbClr val="FFF8EA"/>
          </a:solidFill>
          <a:ln w="12700">
            <a:solidFill>
              <a:srgbClr val="F0D8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28"/>
          <p:cNvSpPr/>
          <p:nvPr/>
        </p:nvSpPr>
        <p:spPr>
          <a:xfrm>
            <a:off x="822960" y="59389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1F2933"/>
                </a:solidFill>
                <a:effectLst/>
                <a:uFillTx/>
                <a:latin typeface="Aptos"/>
              </a:rPr>
              <a:t>Important: the report does not quantify actual cost savings, ROI or retention uplift. Those require live deployment and longitudinal measurement.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1"/>
          <p:cNvSpPr>
            <a:spLocks noGrp="1"/>
          </p:cNvSpPr>
          <p:nvPr>
            <p:ph type="sldNum" idx="13"/>
          </p:nvPr>
        </p:nvSpPr>
        <p:spPr>
          <a:xfrm>
            <a:off x="11722680" y="6263640"/>
            <a:ext cx="182520" cy="145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BBD7BCF-8DF6-4F14-B0EF-D3C1D3C909A3}" type="slidenum">
              <a:rPr lang="en-US" sz="700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rPr>
              <a:t>9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TextBox 282"/>
          <p:cNvSpPr txBox="1"/>
          <p:nvPr/>
        </p:nvSpPr>
        <p:spPr>
          <a:xfrm>
            <a:off x="609600" y="4754520"/>
            <a:ext cx="109728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/>
              <a:t>BUSINESS CASE — Practical ROI Framework</a:t>
            </a:r>
          </a:p>
          <a:p>
            <a:pPr>
              <a:spcAft>
                <a:spcPts val="100"/>
              </a:spcAft>
              <a:defRPr sz="1150"/>
            </a:pPr>
            <a:r>
              <a:rPr dirty="0"/>
              <a:t>Net Value = (Incremental students retained × value per retained student) + support-efficiency savings − pilot &amp; operating cost</a:t>
            </a:r>
          </a:p>
          <a:p>
            <a:pPr>
              <a:spcAft>
                <a:spcPts val="100"/>
              </a:spcAft>
              <a:defRPr sz="1150"/>
            </a:pPr>
            <a:r>
              <a:rPr dirty="0"/>
              <a:t>Compare baseline performance with an AI-assisted pilot cohort and a comparable control/pre-pilot baseline.</a:t>
            </a:r>
          </a:p>
          <a:p>
            <a:pPr>
              <a:spcAft>
                <a:spcPts val="100"/>
              </a:spcAft>
              <a:defRPr sz="1150"/>
            </a:pPr>
            <a:r>
              <a:rPr dirty="0"/>
              <a:t>Scale only if impact, fairness and economics meet agreed thresholds.</a:t>
            </a:r>
          </a:p>
          <a:p>
            <a:pPr>
              <a:spcAft>
                <a:spcPts val="100"/>
              </a:spcAft>
              <a:defRPr sz="1150"/>
            </a:pPr>
            <a:r>
              <a:rPr dirty="0"/>
              <a:t>Track cost per intervention, cost per retained student, tuition/revenue protected and staff hours saved.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Text 0"/>
          <p:cNvSpPr/>
          <p:nvPr/>
        </p:nvSpPr>
        <p:spPr>
          <a:xfrm>
            <a:off x="594360" y="320040"/>
            <a:ext cx="4388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 spc="159">
                <a:solidFill>
                  <a:srgbClr val="176B87"/>
                </a:solidFill>
                <a:effectLst/>
                <a:uFillTx/>
                <a:latin typeface="Aptos"/>
              </a:rPr>
              <a:t>RISK MANAGEMENT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"/>
          <p:cNvSpPr/>
          <p:nvPr/>
        </p:nvSpPr>
        <p:spPr>
          <a:xfrm>
            <a:off x="594360" y="59436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4324A"/>
                </a:solidFill>
                <a:effectLst/>
                <a:uFillTx/>
                <a:latin typeface="Aptos"/>
              </a:rPr>
              <a:t>Key risks—and how to manage them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2"/>
          <p:cNvSpPr/>
          <p:nvPr/>
        </p:nvSpPr>
        <p:spPr>
          <a:xfrm>
            <a:off x="594360" y="1261800"/>
            <a:ext cx="18284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rgbClr val="B65353"/>
                </a:solidFill>
                <a:effectLst/>
                <a:uFillTx/>
                <a:latin typeface="Aptos"/>
              </a:rPr>
              <a:t>False positives / negatives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3"/>
          <p:cNvSpPr/>
          <p:nvPr/>
        </p:nvSpPr>
        <p:spPr>
          <a:xfrm>
            <a:off x="2514600" y="1261800"/>
            <a:ext cx="3657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Students may be missed or unnecessarily flagged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4"/>
          <p:cNvSpPr/>
          <p:nvPr/>
        </p:nvSpPr>
        <p:spPr>
          <a:xfrm>
            <a:off x="6355080" y="1261800"/>
            <a:ext cx="49374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Use human review; track class-level recall and error rates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5"/>
          <p:cNvSpPr/>
          <p:nvPr/>
        </p:nvSpPr>
        <p:spPr>
          <a:xfrm>
            <a:off x="594360" y="1974960"/>
            <a:ext cx="10698480" cy="360"/>
          </a:xfrm>
          <a:prstGeom prst="line">
            <a:avLst/>
          </a:prstGeom>
          <a:ln w="1016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6"/>
          <p:cNvSpPr/>
          <p:nvPr/>
        </p:nvSpPr>
        <p:spPr>
          <a:xfrm>
            <a:off x="594360" y="2139840"/>
            <a:ext cx="18284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rgbClr val="14324A"/>
                </a:solidFill>
                <a:effectLst/>
                <a:uFillTx/>
                <a:latin typeface="Aptos"/>
              </a:rPr>
              <a:t>Bias &amp; fairness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7"/>
          <p:cNvSpPr/>
          <p:nvPr/>
        </p:nvSpPr>
        <p:spPr>
          <a:xfrm>
            <a:off x="2514600" y="2139840"/>
            <a:ext cx="3657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Financial proxies can carry indirect socioeconomic bias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8"/>
          <p:cNvSpPr/>
          <p:nvPr/>
        </p:nvSpPr>
        <p:spPr>
          <a:xfrm>
            <a:off x="6355080" y="2139840"/>
            <a:ext cx="49374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Audit across groups; monitor disparate impact and equalized odds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9"/>
          <p:cNvSpPr/>
          <p:nvPr/>
        </p:nvSpPr>
        <p:spPr>
          <a:xfrm>
            <a:off x="594360" y="2852640"/>
            <a:ext cx="10698480" cy="360"/>
          </a:xfrm>
          <a:prstGeom prst="line">
            <a:avLst/>
          </a:prstGeom>
          <a:ln w="1016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10"/>
          <p:cNvSpPr/>
          <p:nvPr/>
        </p:nvSpPr>
        <p:spPr>
          <a:xfrm>
            <a:off x="594360" y="3017520"/>
            <a:ext cx="18284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rgbClr val="14324A"/>
                </a:solidFill>
                <a:effectLst/>
                <a:uFillTx/>
                <a:latin typeface="Aptos"/>
              </a:rPr>
              <a:t>Privacy &amp; trust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11"/>
          <p:cNvSpPr/>
          <p:nvPr/>
        </p:nvSpPr>
        <p:spPr>
          <a:xfrm>
            <a:off x="2514600" y="3017520"/>
            <a:ext cx="3657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Student data are sensitive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12"/>
          <p:cNvSpPr/>
          <p:nvPr/>
        </p:nvSpPr>
        <p:spPr>
          <a:xfrm>
            <a:off x="6355080" y="3017520"/>
            <a:ext cx="49374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Role-based access, minimum necessary data, governance and logging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13"/>
          <p:cNvSpPr/>
          <p:nvPr/>
        </p:nvSpPr>
        <p:spPr>
          <a:xfrm>
            <a:off x="594360" y="3730680"/>
            <a:ext cx="10698480" cy="360"/>
          </a:xfrm>
          <a:prstGeom prst="line">
            <a:avLst/>
          </a:prstGeom>
          <a:ln w="1016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14"/>
          <p:cNvSpPr/>
          <p:nvPr/>
        </p:nvSpPr>
        <p:spPr>
          <a:xfrm>
            <a:off x="594360" y="3895200"/>
            <a:ext cx="18284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rgbClr val="14324A"/>
                </a:solidFill>
                <a:effectLst/>
                <a:uFillTx/>
                <a:latin typeface="Aptos"/>
              </a:rPr>
              <a:t>Model drift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15"/>
          <p:cNvSpPr/>
          <p:nvPr/>
        </p:nvSpPr>
        <p:spPr>
          <a:xfrm>
            <a:off x="2514600" y="3895200"/>
            <a:ext cx="3657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Cohorts, policies and economics change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16"/>
          <p:cNvSpPr/>
          <p:nvPr/>
        </p:nvSpPr>
        <p:spPr>
          <a:xfrm>
            <a:off x="6355080" y="3895200"/>
            <a:ext cx="49374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Monitor performance; periodic retraining and revalidation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17"/>
          <p:cNvSpPr/>
          <p:nvPr/>
        </p:nvSpPr>
        <p:spPr>
          <a:xfrm>
            <a:off x="594360" y="4608360"/>
            <a:ext cx="10698480" cy="360"/>
          </a:xfrm>
          <a:prstGeom prst="line">
            <a:avLst/>
          </a:prstGeom>
          <a:ln w="1016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18"/>
          <p:cNvSpPr/>
          <p:nvPr/>
        </p:nvSpPr>
        <p:spPr>
          <a:xfrm>
            <a:off x="594360" y="4773240"/>
            <a:ext cx="18284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rgbClr val="14324A"/>
                </a:solidFill>
                <a:effectLst/>
                <a:uFillTx/>
                <a:latin typeface="Aptos"/>
              </a:rPr>
              <a:t>Generalizability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19"/>
          <p:cNvSpPr/>
          <p:nvPr/>
        </p:nvSpPr>
        <p:spPr>
          <a:xfrm>
            <a:off x="2514600" y="4773240"/>
            <a:ext cx="3657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Public dataset may not reflect the target institution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20"/>
          <p:cNvSpPr/>
          <p:nvPr/>
        </p:nvSpPr>
        <p:spPr>
          <a:xfrm>
            <a:off x="6355080" y="4773240"/>
            <a:ext cx="49374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External validation on local data before operational use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21"/>
          <p:cNvSpPr/>
          <p:nvPr/>
        </p:nvSpPr>
        <p:spPr>
          <a:xfrm>
            <a:off x="594360" y="5486400"/>
            <a:ext cx="10698480" cy="360"/>
          </a:xfrm>
          <a:prstGeom prst="line">
            <a:avLst/>
          </a:prstGeom>
          <a:ln w="1016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PlaceHolder 1"/>
          <p:cNvSpPr>
            <a:spLocks noGrp="1"/>
          </p:cNvSpPr>
          <p:nvPr>
            <p:ph type="sldNum" idx="15"/>
          </p:nvPr>
        </p:nvSpPr>
        <p:spPr>
          <a:xfrm>
            <a:off x="11722680" y="6492240"/>
            <a:ext cx="182520" cy="145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73BAA17-0A29-4D65-B059-2C17237E2324}" type="slidenum">
              <a:rPr lang="en-US" sz="700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rPr>
              <a:t>10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Text 0"/>
          <p:cNvSpPr/>
          <p:nvPr/>
        </p:nvSpPr>
        <p:spPr>
          <a:xfrm>
            <a:off x="594360" y="320040"/>
            <a:ext cx="4388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 spc="159">
                <a:solidFill>
                  <a:srgbClr val="176B87"/>
                </a:solidFill>
                <a:effectLst/>
                <a:uFillTx/>
                <a:latin typeface="Aptos"/>
              </a:rPr>
              <a:t>ROADMAP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1"/>
          <p:cNvSpPr/>
          <p:nvPr/>
        </p:nvSpPr>
        <p:spPr>
          <a:xfrm>
            <a:off x="594360" y="59436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4324A"/>
                </a:solidFill>
                <a:effectLst/>
                <a:uFillTx/>
                <a:latin typeface="Aptos"/>
              </a:rPr>
              <a:t>Strategy: pilot, prove value, then scale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2"/>
          <p:cNvSpPr/>
          <p:nvPr/>
        </p:nvSpPr>
        <p:spPr>
          <a:xfrm>
            <a:off x="594360" y="1508760"/>
            <a:ext cx="2468520" cy="3200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3"/>
          <p:cNvSpPr/>
          <p:nvPr/>
        </p:nvSpPr>
        <p:spPr>
          <a:xfrm>
            <a:off x="822960" y="1783080"/>
            <a:ext cx="1234080" cy="310680"/>
          </a:xfrm>
          <a:prstGeom prst="roundRect">
            <a:avLst>
              <a:gd name="adj" fmla="val 44118"/>
            </a:avLst>
          </a:prstGeom>
          <a:solidFill>
            <a:srgbClr val="14324A"/>
          </a:solidFill>
          <a:ln w="12700">
            <a:solidFill>
              <a:srgbClr val="1432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4"/>
          <p:cNvSpPr/>
          <p:nvPr/>
        </p:nvSpPr>
        <p:spPr>
          <a:xfrm>
            <a:off x="822960" y="1783080"/>
            <a:ext cx="12340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0–30 days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5"/>
          <p:cNvSpPr/>
          <p:nvPr/>
        </p:nvSpPr>
        <p:spPr>
          <a:xfrm>
            <a:off x="822960" y="233172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dirty="0">
                <a:solidFill>
                  <a:srgbClr val="14324A"/>
                </a:solidFill>
                <a:effectLst/>
                <a:uFillTx/>
                <a:latin typeface="Aptos"/>
              </a:rPr>
              <a:t>Design</a:t>
            </a:r>
            <a:endParaRPr lang="en-US" sz="2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6"/>
          <p:cNvSpPr/>
          <p:nvPr/>
        </p:nvSpPr>
        <p:spPr>
          <a:xfrm>
            <a:off x="822960" y="2926080"/>
            <a:ext cx="2011320" cy="132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5B6770"/>
                </a:solidFill>
                <a:effectLst/>
                <a:uFillTx/>
                <a:latin typeface="Aptos"/>
              </a:rPr>
              <a:t>Define use case, owners, privacy controls, baseline KPIs and intervention playbook.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7"/>
          <p:cNvSpPr/>
          <p:nvPr/>
        </p:nvSpPr>
        <p:spPr>
          <a:xfrm>
            <a:off x="3364920" y="1508760"/>
            <a:ext cx="2468520" cy="3200040"/>
          </a:xfrm>
          <a:prstGeom prst="roundRect">
            <a:avLst>
              <a:gd name="adj" fmla="val 16667"/>
            </a:avLst>
          </a:prstGeom>
          <a:solidFill>
            <a:srgbClr val="EAF5F5"/>
          </a:solidFill>
          <a:ln w="19050">
            <a:solidFill>
              <a:srgbClr val="64CC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8"/>
          <p:cNvSpPr/>
          <p:nvPr/>
        </p:nvSpPr>
        <p:spPr>
          <a:xfrm>
            <a:off x="3593520" y="1783080"/>
            <a:ext cx="1234080" cy="310680"/>
          </a:xfrm>
          <a:prstGeom prst="roundRect">
            <a:avLst>
              <a:gd name="adj" fmla="val 44118"/>
            </a:avLst>
          </a:prstGeom>
          <a:solidFill>
            <a:srgbClr val="176B87"/>
          </a:solidFill>
          <a:ln w="12700">
            <a:solidFill>
              <a:srgbClr val="176B8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9"/>
          <p:cNvSpPr/>
          <p:nvPr/>
        </p:nvSpPr>
        <p:spPr>
          <a:xfrm>
            <a:off x="3593520" y="1783080"/>
            <a:ext cx="12340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31–90 days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10"/>
          <p:cNvSpPr/>
          <p:nvPr/>
        </p:nvSpPr>
        <p:spPr>
          <a:xfrm>
            <a:off x="3593520" y="233172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4324A"/>
                </a:solidFill>
                <a:effectLst/>
                <a:uFillTx/>
                <a:latin typeface="Aptos"/>
              </a:rPr>
              <a:t>Pilot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11"/>
          <p:cNvSpPr/>
          <p:nvPr/>
        </p:nvSpPr>
        <p:spPr>
          <a:xfrm>
            <a:off x="3593520" y="2926080"/>
            <a:ext cx="2011320" cy="132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5B6770"/>
                </a:solidFill>
                <a:effectLst/>
                <a:uFillTx/>
                <a:latin typeface="Aptos"/>
              </a:rPr>
              <a:t>Validate on local data; deploy to a limited cohort; require advisor review.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12"/>
          <p:cNvSpPr/>
          <p:nvPr/>
        </p:nvSpPr>
        <p:spPr>
          <a:xfrm>
            <a:off x="6135480" y="1508760"/>
            <a:ext cx="2468520" cy="3200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13"/>
          <p:cNvSpPr/>
          <p:nvPr/>
        </p:nvSpPr>
        <p:spPr>
          <a:xfrm>
            <a:off x="6364080" y="1783080"/>
            <a:ext cx="1234080" cy="310680"/>
          </a:xfrm>
          <a:prstGeom prst="roundRect">
            <a:avLst>
              <a:gd name="adj" fmla="val 44118"/>
            </a:avLst>
          </a:prstGeom>
          <a:solidFill>
            <a:srgbClr val="14324A"/>
          </a:solidFill>
          <a:ln w="12700">
            <a:solidFill>
              <a:srgbClr val="1432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14"/>
          <p:cNvSpPr/>
          <p:nvPr/>
        </p:nvSpPr>
        <p:spPr>
          <a:xfrm>
            <a:off x="6364080" y="1783080"/>
            <a:ext cx="12340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3–6 months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15"/>
          <p:cNvSpPr/>
          <p:nvPr/>
        </p:nvSpPr>
        <p:spPr>
          <a:xfrm>
            <a:off x="6364080" y="233172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4324A"/>
                </a:solidFill>
                <a:effectLst/>
                <a:uFillTx/>
                <a:latin typeface="Aptos"/>
              </a:rPr>
              <a:t>Prove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16"/>
          <p:cNvSpPr/>
          <p:nvPr/>
        </p:nvSpPr>
        <p:spPr>
          <a:xfrm>
            <a:off x="6364080" y="2926080"/>
            <a:ext cx="2011320" cy="132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Measure retention/intervention uplift, errors, fairness and unit economics.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17"/>
          <p:cNvSpPr/>
          <p:nvPr/>
        </p:nvSpPr>
        <p:spPr>
          <a:xfrm>
            <a:off x="8906400" y="1508760"/>
            <a:ext cx="2468520" cy="3200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18"/>
          <p:cNvSpPr/>
          <p:nvPr/>
        </p:nvSpPr>
        <p:spPr>
          <a:xfrm>
            <a:off x="9135000" y="1783080"/>
            <a:ext cx="1234080" cy="310680"/>
          </a:xfrm>
          <a:prstGeom prst="roundRect">
            <a:avLst>
              <a:gd name="adj" fmla="val 44118"/>
            </a:avLst>
          </a:prstGeom>
          <a:solidFill>
            <a:srgbClr val="14324A"/>
          </a:solidFill>
          <a:ln w="12700">
            <a:solidFill>
              <a:srgbClr val="1432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19"/>
          <p:cNvSpPr/>
          <p:nvPr/>
        </p:nvSpPr>
        <p:spPr>
          <a:xfrm>
            <a:off x="9135000" y="1783080"/>
            <a:ext cx="12340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6+ months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20"/>
          <p:cNvSpPr/>
          <p:nvPr/>
        </p:nvSpPr>
        <p:spPr>
          <a:xfrm>
            <a:off x="9135000" y="233172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4324A"/>
                </a:solidFill>
                <a:effectLst/>
                <a:uFillTx/>
                <a:latin typeface="Aptos"/>
              </a:rPr>
              <a:t>Scale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21"/>
          <p:cNvSpPr/>
          <p:nvPr/>
        </p:nvSpPr>
        <p:spPr>
          <a:xfrm>
            <a:off x="9135000" y="2926080"/>
            <a:ext cx="2011320" cy="132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Integrate into systems, automate monitoring, retrain and expand only where value is demonstrated.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22"/>
          <p:cNvSpPr/>
          <p:nvPr/>
        </p:nvSpPr>
        <p:spPr>
          <a:xfrm>
            <a:off x="594360" y="523044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>
                <a:solidFill>
                  <a:srgbClr val="176B87"/>
                </a:solidFill>
                <a:effectLst/>
                <a:uFillTx/>
                <a:latin typeface="Aptos"/>
              </a:rPr>
              <a:t>Decision rule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23"/>
          <p:cNvSpPr/>
          <p:nvPr/>
        </p:nvSpPr>
        <p:spPr>
          <a:xfrm>
            <a:off x="2213280" y="5230440"/>
            <a:ext cx="95094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 dirty="0">
                <a:solidFill>
                  <a:srgbClr val="14324A"/>
                </a:solidFill>
                <a:effectLst/>
                <a:uFillTx/>
                <a:latin typeface="Aptos"/>
              </a:rPr>
              <a:t>Do not scale on accuracy alone. Scale when the solution demonstrates operational adoption, measurable student impact, acceptable fairness, and positive economics.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1"/>
          <p:cNvSpPr>
            <a:spLocks noGrp="1"/>
          </p:cNvSpPr>
          <p:nvPr>
            <p:ph type="sldNum" idx="16"/>
          </p:nvPr>
        </p:nvSpPr>
        <p:spPr>
          <a:xfrm>
            <a:off x="11722680" y="6492240"/>
            <a:ext cx="182520" cy="145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3C46844-2918-446F-A9AC-8A3E8CE11C15}" type="slidenum">
              <a:rPr lang="en-US" sz="700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rPr>
              <a:t>11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Text 0"/>
          <p:cNvSpPr/>
          <p:nvPr/>
        </p:nvSpPr>
        <p:spPr>
          <a:xfrm>
            <a:off x="594360" y="320040"/>
            <a:ext cx="4388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 spc="159">
                <a:solidFill>
                  <a:srgbClr val="176B87"/>
                </a:solidFill>
                <a:effectLst/>
                <a:uFillTx/>
                <a:latin typeface="Aptos"/>
              </a:rPr>
              <a:t>DECISION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1"/>
          <p:cNvSpPr/>
          <p:nvPr/>
        </p:nvSpPr>
        <p:spPr>
          <a:xfrm>
            <a:off x="594360" y="59436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 dirty="0">
                <a:solidFill>
                  <a:srgbClr val="14324A"/>
                </a:solidFill>
                <a:effectLst/>
                <a:uFillTx/>
                <a:latin typeface="Aptos"/>
              </a:rPr>
              <a:t>Executive takeaway</a:t>
            </a:r>
            <a:endParaRPr lang="en-US" sz="2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2"/>
          <p:cNvSpPr/>
          <p:nvPr/>
        </p:nvSpPr>
        <p:spPr>
          <a:xfrm>
            <a:off x="594360" y="1122320"/>
            <a:ext cx="10789560" cy="116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u="none" strike="noStrike" dirty="0">
                <a:solidFill>
                  <a:srgbClr val="14324A"/>
                </a:solidFill>
                <a:effectLst/>
                <a:uFillTx/>
                <a:latin typeface="Aptos"/>
              </a:rPr>
              <a:t>The project shows that existing student data can provide a credible early-warning signal—but the value is created only when predictions lead to timely, responsible interventions.</a:t>
            </a:r>
            <a:endParaRPr lang="en-US" sz="24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3"/>
          <p:cNvSpPr/>
          <p:nvPr/>
        </p:nvSpPr>
        <p:spPr>
          <a:xfrm>
            <a:off x="594360" y="2514600"/>
            <a:ext cx="10881000" cy="776880"/>
          </a:xfrm>
          <a:prstGeom prst="roundRect">
            <a:avLst>
              <a:gd name="adj" fmla="val 16667"/>
            </a:avLst>
          </a:prstGeom>
          <a:solidFill>
            <a:srgbClr val="F8FAFB"/>
          </a:solidFill>
          <a:ln w="1270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4"/>
          <p:cNvSpPr/>
          <p:nvPr/>
        </p:nvSpPr>
        <p:spPr>
          <a:xfrm>
            <a:off x="822960" y="2514600"/>
            <a:ext cx="20113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4324A"/>
                </a:solidFill>
                <a:effectLst/>
                <a:uFillTx/>
                <a:latin typeface="Aptos"/>
              </a:rPr>
              <a:t>Proven in the project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5"/>
          <p:cNvSpPr/>
          <p:nvPr/>
        </p:nvSpPr>
        <p:spPr>
          <a:xfrm>
            <a:off x="2926080" y="2514600"/>
            <a:ext cx="81835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Random Forest: 77% accuracy, 0.70 macro F1; strong signals from academic progression.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6"/>
          <p:cNvSpPr/>
          <p:nvPr/>
        </p:nvSpPr>
        <p:spPr>
          <a:xfrm>
            <a:off x="594360" y="3520440"/>
            <a:ext cx="10881000" cy="776880"/>
          </a:xfrm>
          <a:prstGeom prst="roundRect">
            <a:avLst>
              <a:gd name="adj" fmla="val 16667"/>
            </a:avLst>
          </a:prstGeom>
          <a:solidFill>
            <a:srgbClr val="F8FAFB"/>
          </a:solidFill>
          <a:ln w="12700">
            <a:solidFill>
              <a:srgbClr val="DD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7"/>
          <p:cNvSpPr/>
          <p:nvPr/>
        </p:nvSpPr>
        <p:spPr>
          <a:xfrm>
            <a:off x="822960" y="3520440"/>
            <a:ext cx="20113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4324A"/>
                </a:solidFill>
                <a:effectLst/>
                <a:uFillTx/>
                <a:latin typeface="Aptos"/>
              </a:rPr>
              <a:t>Not yet proven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8"/>
          <p:cNvSpPr/>
          <p:nvPr/>
        </p:nvSpPr>
        <p:spPr>
          <a:xfrm>
            <a:off x="2926080" y="3520440"/>
            <a:ext cx="81835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5B6770"/>
                </a:solidFill>
                <a:effectLst/>
                <a:uFillTx/>
                <a:latin typeface="Aptos"/>
              </a:rPr>
              <a:t>Real-world retention uplift, cost savings and ROI—these require deployment.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9"/>
          <p:cNvSpPr/>
          <p:nvPr/>
        </p:nvSpPr>
        <p:spPr>
          <a:xfrm>
            <a:off x="594360" y="4526280"/>
            <a:ext cx="10881000" cy="776880"/>
          </a:xfrm>
          <a:prstGeom prst="roundRect">
            <a:avLst>
              <a:gd name="adj" fmla="val 16667"/>
            </a:avLst>
          </a:prstGeom>
          <a:solidFill>
            <a:srgbClr val="EAF5F5"/>
          </a:solidFill>
          <a:ln w="12700">
            <a:solidFill>
              <a:srgbClr val="64CC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10"/>
          <p:cNvSpPr/>
          <p:nvPr/>
        </p:nvSpPr>
        <p:spPr>
          <a:xfrm>
            <a:off x="822960" y="4526280"/>
            <a:ext cx="20113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6B87"/>
                </a:solidFill>
                <a:effectLst/>
                <a:uFillTx/>
                <a:latin typeface="Aptos"/>
              </a:rPr>
              <a:t>Recommended next move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11"/>
          <p:cNvSpPr/>
          <p:nvPr/>
        </p:nvSpPr>
        <p:spPr>
          <a:xfrm>
            <a:off x="2926080" y="4526280"/>
            <a:ext cx="81835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B6770"/>
                </a:solidFill>
                <a:effectLst/>
                <a:uFillTx/>
                <a:latin typeface="Aptos"/>
              </a:rPr>
              <a:t>Run a controlled institutional pilot with human review, KPI baselines, fairness monitoring and a clear scale/no-scale gate.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12"/>
          <p:cNvSpPr/>
          <p:nvPr/>
        </p:nvSpPr>
        <p:spPr>
          <a:xfrm>
            <a:off x="594360" y="5715000"/>
            <a:ext cx="107895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 dirty="0">
                <a:solidFill>
                  <a:srgbClr val="176B87"/>
                </a:solidFill>
                <a:effectLst/>
                <a:uFillTx/>
                <a:latin typeface="Aptos"/>
              </a:rPr>
              <a:t>AI identifies where to look. People decide how to help.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PlaceHolder 1"/>
          <p:cNvSpPr>
            <a:spLocks noGrp="1"/>
          </p:cNvSpPr>
          <p:nvPr>
            <p:ph type="sldNum" idx="17"/>
          </p:nvPr>
        </p:nvSpPr>
        <p:spPr>
          <a:xfrm>
            <a:off x="11722680" y="6492240"/>
            <a:ext cx="182520" cy="145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6B6A3A6-87AB-4EB0-A342-D787617C8EFA}" type="slidenum">
              <a:rPr lang="en-US" sz="700" b="0" u="none" strike="noStrike">
                <a:solidFill>
                  <a:srgbClr val="7A8793"/>
                </a:solidFill>
                <a:effectLst/>
                <a:uFillTx/>
                <a:latin typeface="Aptos"/>
                <a:ea typeface="Aptos"/>
              </a:rPr>
              <a:t>12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Words>1160</Words>
  <Application>Microsoft Office PowerPoint</Application>
  <PresentationFormat>Widescreen</PresentationFormat>
  <Paragraphs>244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Arial</vt:lpstr>
      <vt:lpstr>DejaVu Sans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Lynlee Cuesta</dc:creator>
  <cp:lastModifiedBy>PMA</cp:lastModifiedBy>
  <cp:revision>4</cp:revision>
  <dcterms:modified xsi:type="dcterms:W3CDTF">2026-08-13T02:09:56Z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2026-08-12T06:10:43Z</dcterms:created>
  <dc:creator>OpenAI</dc:creator>
  <dc:description/>
  <dc:language>en-US</dc:language>
  <cp:lastModifiedBy>OpenAI</cp:lastModifiedBy>
  <dcterms:modified xsi:type="dcterms:W3CDTF">2026-08-12T06:10:43Z</dcterms:modified>
  <cp:revision>1</cp:revision>
  <dc:subject>Executive presentation: Predicting Student Dropout and Academic Success</dc:subject>
  <dc:title>AI-Powered Student Success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13</vt:r8>
  </property>
  <property fmtid="{D5CDD505-2E9C-101B-9397-08002B2CF9AE}" pid="3" name="PresentationFormat">
    <vt:lpwstr>On-screen Show (16:9)</vt:lpwstr>
  </property>
  <property fmtid="{D5CDD505-2E9C-101B-9397-08002B2CF9AE}" pid="4" name="Slides">
    <vt:r8>13</vt:r8>
  </property>
</Properties>
</file>